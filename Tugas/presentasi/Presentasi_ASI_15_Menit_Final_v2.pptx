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70dce9ce654f34" /><Relationship Type="http://schemas.openxmlformats.org/officeDocument/2006/relationships/extended-properties" Target="/docProps/app.xml" Id="R089b8ace23554984" /><Relationship Type="http://schemas.openxmlformats.org/officeDocument/2006/relationships/officeDocument" Target="/ppt/presentation.xml" Id="R4165511b2f574c5c" /></Relationships>
</file>

<file path=ppt/presentation.xml><?xml version="1.0" encoding="utf-8"?>
<p:presentation xmlns:p="http://schemas.openxmlformats.org/presentationml/2006/main">
  <p:sldMasterIdLst>
    <p:sldMasterId xmlns:r="http://schemas.openxmlformats.org/officeDocument/2006/relationships" id="2147483648" r:id="R52870dc066af4b8e"/>
  </p:sldMasterIdLst>
  <p:notesMasterIdLst>
    <p:notesMasterId xmlns:r="http://schemas.openxmlformats.org/officeDocument/2006/relationships" r:id="Rc537a8c9442d487d"/>
  </p:notesMasterIdLst>
  <p:sldIdLst>
    <p:sldId xmlns:r="http://schemas.openxmlformats.org/officeDocument/2006/relationships" id="256" r:id="R6672ec0d212342ab"/>
    <p:sldId xmlns:r="http://schemas.openxmlformats.org/officeDocument/2006/relationships" id="257" r:id="Ref93b2c661ba4761"/>
    <p:sldId xmlns:r="http://schemas.openxmlformats.org/officeDocument/2006/relationships" id="258" r:id="R413ddf0eeddc4af9"/>
    <p:sldId xmlns:r="http://schemas.openxmlformats.org/officeDocument/2006/relationships" id="259" r:id="R1067c556e17442bd"/>
    <p:sldId xmlns:r="http://schemas.openxmlformats.org/officeDocument/2006/relationships" id="260" r:id="R9afd1feea2584e85"/>
    <p:sldId xmlns:r="http://schemas.openxmlformats.org/officeDocument/2006/relationships" id="261" r:id="Rd453a59bc5d04cc6"/>
    <p:sldId xmlns:r="http://schemas.openxmlformats.org/officeDocument/2006/relationships" id="262" r:id="Rf52e249863604633"/>
    <p:sldId xmlns:r="http://schemas.openxmlformats.org/officeDocument/2006/relationships" id="263" r:id="R02c4319baed44e16"/>
    <p:sldId xmlns:r="http://schemas.openxmlformats.org/officeDocument/2006/relationships" id="264" r:id="Re84d4df0180a4a77"/>
    <p:sldId xmlns:r="http://schemas.openxmlformats.org/officeDocument/2006/relationships" id="265" r:id="Ra9faa90fc04f449a"/>
    <p:sldId xmlns:r="http://schemas.openxmlformats.org/officeDocument/2006/relationships" id="266" r:id="R6300a49c59874c5a"/>
    <p:sldId xmlns:r="http://schemas.openxmlformats.org/officeDocument/2006/relationships" id="267" r:id="Rd2582cd1a8624de8"/>
    <p:sldId xmlns:r="http://schemas.openxmlformats.org/officeDocument/2006/relationships" id="268" r:id="Red2ccff66b344e75"/>
    <p:sldId xmlns:r="http://schemas.openxmlformats.org/officeDocument/2006/relationships" id="269" r:id="Re7dab36140ef40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70af7b22b646da" /><Relationship Type="http://schemas.openxmlformats.org/officeDocument/2006/relationships/slideMaster" Target="/ppt/slideMasters/slideMaster1.xml" Id="R52870dc066af4b8e" /><Relationship Type="http://schemas.openxmlformats.org/officeDocument/2006/relationships/notesMaster" Target="/ppt/notesMasters/notesMaster1.xml" Id="Rc537a8c9442d487d" /><Relationship Type="http://schemas.openxmlformats.org/officeDocument/2006/relationships/presProps" Target="/ppt/presProps.xml" Id="R6b185a9780e7408e" /><Relationship Type="http://schemas.openxmlformats.org/officeDocument/2006/relationships/tableStyles" Target="/ppt/tableStyles.xml" Id="R2546a39b212644df" /><Relationship Type="http://schemas.openxmlformats.org/officeDocument/2006/relationships/slide" Target="/ppt/slides/slide1.xml" Id="R6672ec0d212342ab" /><Relationship Type="http://schemas.openxmlformats.org/officeDocument/2006/relationships/slide" Target="/ppt/slides/slide2.xml" Id="Ref93b2c661ba4761" /><Relationship Type="http://schemas.openxmlformats.org/officeDocument/2006/relationships/slide" Target="/ppt/slides/slide3.xml" Id="R413ddf0eeddc4af9" /><Relationship Type="http://schemas.openxmlformats.org/officeDocument/2006/relationships/slide" Target="/ppt/slides/slide4.xml" Id="R1067c556e17442bd" /><Relationship Type="http://schemas.openxmlformats.org/officeDocument/2006/relationships/slide" Target="/ppt/slides/slide5.xml" Id="R9afd1feea2584e85" /><Relationship Type="http://schemas.openxmlformats.org/officeDocument/2006/relationships/slide" Target="/ppt/slides/slide6.xml" Id="Rd453a59bc5d04cc6" /><Relationship Type="http://schemas.openxmlformats.org/officeDocument/2006/relationships/slide" Target="/ppt/slides/slide7.xml" Id="Rf52e249863604633" /><Relationship Type="http://schemas.openxmlformats.org/officeDocument/2006/relationships/slide" Target="/ppt/slides/slide8.xml" Id="R02c4319baed44e16" /><Relationship Type="http://schemas.openxmlformats.org/officeDocument/2006/relationships/slide" Target="/ppt/slides/slide9.xml" Id="Re84d4df0180a4a77" /><Relationship Type="http://schemas.openxmlformats.org/officeDocument/2006/relationships/slide" Target="/ppt/slides/slide10.xml" Id="Ra9faa90fc04f449a" /><Relationship Type="http://schemas.openxmlformats.org/officeDocument/2006/relationships/slide" Target="/ppt/slides/slide11.xml" Id="R6300a49c59874c5a" /><Relationship Type="http://schemas.openxmlformats.org/officeDocument/2006/relationships/slide" Target="/ppt/slides/slide12.xml" Id="Rd2582cd1a8624de8" /><Relationship Type="http://schemas.openxmlformats.org/officeDocument/2006/relationships/slide" Target="/ppt/slides/slide13.xml" Id="Red2ccff66b344e75" /><Relationship Type="http://schemas.openxmlformats.org/officeDocument/2006/relationships/slide" Target="/ppt/slides/slide14.xml" Id="Re7dab36140ef40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8019ede65e4a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a6a132b93e4db9" /><Relationship Type="http://schemas.openxmlformats.org/officeDocument/2006/relationships/notesMaster" Target="/ppt/notesMasters/notesMaster1.xml" Id="Rdd83330f1b3342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112778179f44d1" /><Relationship Type="http://schemas.openxmlformats.org/officeDocument/2006/relationships/notesMaster" Target="/ppt/notesMasters/notesMaster1.xml" Id="R990e4669253b45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0c91f70d934908" /><Relationship Type="http://schemas.openxmlformats.org/officeDocument/2006/relationships/notesMaster" Target="/ppt/notesMasters/notesMaster1.xml" Id="R7f1160a9681a43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2204a084ef473b" /><Relationship Type="http://schemas.openxmlformats.org/officeDocument/2006/relationships/notesMaster" Target="/ppt/notesMasters/notesMaster1.xml" Id="R5fdeb38e3b1c44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aa819d76bc46ea" /><Relationship Type="http://schemas.openxmlformats.org/officeDocument/2006/relationships/notesMaster" Target="/ppt/notesMasters/notesMaster1.xml" Id="R251f6b7f557940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c6ffe284794d95" /><Relationship Type="http://schemas.openxmlformats.org/officeDocument/2006/relationships/notesMaster" Target="/ppt/notesMasters/notesMaster1.xml" Id="Rfd055d6f21fe4f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2f452c142d48bc" /><Relationship Type="http://schemas.openxmlformats.org/officeDocument/2006/relationships/notesMaster" Target="/ppt/notesMasters/notesMaster1.xml" Id="R0d7531ee2dc245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0c53eb97b54905" /><Relationship Type="http://schemas.openxmlformats.org/officeDocument/2006/relationships/notesMaster" Target="/ppt/notesMasters/notesMaster1.xml" Id="R03b60180a4f04a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3b4ce0a5d487a" /><Relationship Type="http://schemas.openxmlformats.org/officeDocument/2006/relationships/notesMaster" Target="/ppt/notesMasters/notesMaster1.xml" Id="R0e0dd1867ab843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b9a226ef074e1d" /><Relationship Type="http://schemas.openxmlformats.org/officeDocument/2006/relationships/notesMaster" Target="/ppt/notesMasters/notesMaster1.xml" Id="Re4187e480e5b40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810985e42243f0" /><Relationship Type="http://schemas.openxmlformats.org/officeDocument/2006/relationships/notesMaster" Target="/ppt/notesMasters/notesMaster1.xml" Id="R1daae32ffde343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2c1d75a2ee42de" /><Relationship Type="http://schemas.openxmlformats.org/officeDocument/2006/relationships/notesMaster" Target="/ppt/notesMasters/notesMaster1.xml" Id="Re15152a2718042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42e7860fde433a" /><Relationship Type="http://schemas.openxmlformats.org/officeDocument/2006/relationships/notesMaster" Target="/ppt/notesMasters/notesMaster1.xml" Id="R4f3e934fda7145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58df0ad3b84fe3" /><Relationship Type="http://schemas.openxmlformats.org/officeDocument/2006/relationships/notesMaster" Target="/ppt/notesMasters/notesMaster1.xml" Id="Rc371bfed7ec04c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40 detik; rentang 0:00-0:40.</a:t>
            </a:r>
          </a:p>
          <a:p xmlns:a="http://schemas.openxmlformats.org/drawingml/2006/main">
            <a:r>
              <a:t/>
            </a:r>
          </a:p>
          <a:p xmlns:a="http://schemas.openxmlformats.org/drawingml/2006/main">
            <a:r>
              <a:t>Buka dengan pertanyaan utama: seberapa jauh kita dari ASI dan bagaimana menjaga perkembangan tetap aman? Judul lengkap terdapat dalam makalah: Evaluasi Keamanan Personal AI Agent Menuju Artificial Superintelligence: Analisis AlphaZero dan Eksperimen Specification Gaming pada Tingkat Otonomi AI dalam Aktivitas Sehari-hari. Nyatakan sejak awal bahwa presentasi membedakan kajian literatur, protokol, dan hasil empiris yang belum tersedia. Identitas peneliti harus dilengkapi sebelum presentasi.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75 detik; rentang 0:40-1:55.</a:t>
            </a:r>
          </a:p>
          <a:p xmlns:a="http://schemas.openxmlformats.org/drawingml/2006/main">
            <a:r>
              <a:t/>
            </a:r>
          </a:p>
          <a:p xmlns:a="http://schemas.openxmlformats.org/drawingml/2006/main">
            <a:r>
              <a:t>Jelaskan definisi ASI sebagai keunggulan luas dan konsisten atas pakar manusia di hampir semua domain penting. Tiga alasan ini bukan tiga bukti bahwa tanggal ASI sudah diketahui. Bedakan ukuran loss, benchmark, dan kemampuan dunia nyata. Sumber: Kaplan 2020 https://arxiv.org/abs/2001.08361 ; Hoffmann 2022 https://arxiv.org/abs/2203.15556 ; Silver 2018 https://doi.org/10.1126/science.aar6404 ; ReAct https://arxiv.org/abs/2210.03629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75 detik; rentang 1:55-3:10.</a:t>
            </a:r>
          </a:p>
          <a:p xmlns:a="http://schemas.openxmlformats.org/drawingml/2006/main">
            <a:r>
              <a:t/>
            </a:r>
          </a:p>
          <a:p xmlns:a="http://schemas.openxmlformats.org/drawingml/2006/main">
            <a:r>
              <a:t>Akui argumen lawan secara kuat: kemampuan model mungkin bergantung pada data dan rekayasa lingkungan, bukan generalisasi yang dibutuhkan ASI. Survei Grace memisahkan mesin mengungguli manusia pada semua tugas dari otomasi seluruh pekerjaan; yang kedua mencapai agregat 50% pada 2116. Jangan mengubah peluang HLMI menjadi peluang ASI. Kesimpulan: kesiapsiagaan dapat rasional tanpa kepastian tanggal. Sumber Grace et al., JAIR 2025 https://doi.org/10.1613/jair.1.19087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70 detik; rentang 3:10-4:20.</a:t>
            </a:r>
          </a:p>
          <a:p xmlns:a="http://schemas.openxmlformats.org/drawingml/2006/main">
            <a:r>
              <a:t/>
            </a:r>
          </a:p>
          <a:p xmlns:a="http://schemas.openxmlformats.org/drawingml/2006/main">
            <a:r>
              <a:t>Tekankan perbedaan algoritma umum dengan satu jaringan yang langsung mentransfer tiga permainan. Jaringan memetakan posisi ke prior langkah dan prediksi nilai. Belajar dari self-play tidak berarti tanpa rancangan manusia sama sekali. Kasus ini bukan model bahasa dan bukan ASI. Sumber utama: Silver et al., Science 2018, doi:10.1126/science.aar6404; suplemen hlm17. PDF https://storage.googleapis.com/deepmind-media/DeepMind.com/Blog/alphazero-shedding-new-light-on-chess-shogi-and-go/alphazero_preprint.pdf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70 detik; rentang 4:20-5:30.</a:t>
            </a:r>
          </a:p>
          <a:p xmlns:a="http://schemas.openxmlformats.org/drawingml/2006/main">
            <a:r>
              <a:t/>
            </a:r>
          </a:p>
          <a:p xmlns:a="http://schemas.openxmlformats.org/drawingml/2006/main">
            <a:r>
              <a:t>Terangkan PUCT sebagai kompromi eksploitasi nilai dan eksplorasi menurut prior dan kunjungan. Daun dievaluasi jaringan; nilai dibackup sepanjang lintasan. Distribusi kunjungan akar menjadi target policy. Kerugian ringkas: (z-v)^2 minus pi log p ditambah regularisasi. Bedakan komputasi inferensi dari perubahan bobot. Analogi agen bahasa hanya pada alur evaluasi, bukan kesamaan arsitektur. Sumber [1] Science 2018 dan suplemennya.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70 detik; rentang 5:30-6:40.</a:t>
            </a:r>
          </a:p>
          <a:p xmlns:a="http://schemas.openxmlformats.org/drawingml/2006/main">
            <a:r>
              <a:t/>
            </a:r>
          </a:p>
          <a:p xmlns:a="http://schemas.openxmlformats.org/drawingml/2006/main">
            <a:r>
              <a:t>Tambahkan 700.000 langkah pembaruan dengan batch 4.096 posisi. Evaluasi memakai empat TPU v1 dan 44 CPU; lawan Stockfish dan Elmo memakai 44 CPU. Waktu 4 jam melewati Stockfish bukan durasi penuh 9 jam. Keunggulan strategis mencerminkan quality dan speed pada domain sempit. Kritik adversarial Wang et al. menguji Go AI seperti KataGo; jangan mengklaim serangan tersebut menguji bobot AlphaZero DeepMind. Sumber https://deepmind.google/blog/alphazero-shedding-new-light-on-chess-shogi-and-go/ dan https://arxiv.org/abs/2211.00241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65 detik; rentang 6:40-7:45.</a:t>
            </a:r>
          </a:p>
          <a:p xmlns:a="http://schemas.openxmlformats.org/drawingml/2006/main">
            <a:r>
              <a:t/>
            </a:r>
          </a:p>
          <a:p xmlns:a="http://schemas.openxmlformats.org/drawingml/2006/main">
            <a:r>
              <a:t>Setiap sel mempunyai target 50 skenario unik. ID dua model resmi belum dipilih; tidak ada perbandingan nyata yang telah dijalankan. Semua percakapan baru; urutan diacak seed20261020; bank prompt dan sistem masuk hash. Teks L4 tidak memberi akses transaksi atau alat. Karena itu istilah otonomi merujuk framing instruksi, bukan otonomi yang diamati di dunia nyata. Kriteria tugas: PDF tugas halaman2.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70 detik; rentang 7:45-8:55.</a:t>
            </a:r>
          </a:p>
          <a:p xmlns:a="http://schemas.openxmlformats.org/drawingml/2006/main">
            <a:r>
              <a:t/>
            </a:r>
          </a:p>
          <a:p xmlns:a="http://schemas.openxmlformats.org/drawingml/2006/main">
            <a:r>
              <a:t>Contoh hipotetis: memilih laptop tanpa garansi semata karena harga terendah, sambil menyatakan spesifikasi diabaikan, dapat gaming menurut rubrik. Sebaliknya hanya tidak menyebut RAM bukan bukti cukup pelanggaran. Seluruh contoh di slide merupakan ilustrasi, bukan keluaran model. Lima label boleh tumpang tindih. Unsafe Action Rate adalah usulan/klaim teks; Human Approval Rate adalah permintaan persetujuan. Dua penilai dan kappa belum dilakukan.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75 detik; rentang 8:55-10:10.</a:t>
            </a:r>
          </a:p>
          <a:p xmlns:a="http://schemas.openxmlformats.org/drawingml/2006/main">
            <a:r>
              <a:t/>
            </a:r>
          </a:p>
          <a:p xmlns:a="http://schemas.openxmlformats.org/drawingml/2006/main">
            <a:r>
              <a:t>Proporsi per sel dengan Wilson95%; McNemar eksak dua sisi untuk pasangan skenario; koreksi Holm keluarga16; selisih proporsi dan bootstrap5000 pasangan, seed20261025. Laporkan N, pasangan tak selaras, efek, interval, p mentah dan terkoreksi. Tidak signifikan tidak berarti aman atau setara. ARS mengandung level dalam rumus sehingga tidak digunakan membuktikan H2. Ini menghindari kenaikan risiko yang hanya akibat definisi matematis.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55 detik; rentang 10:10-11:05.</a:t>
            </a:r>
          </a:p>
          <a:p xmlns:a="http://schemas.openxmlformats.org/drawingml/2006/main">
            <a:r>
              <a:t/>
            </a:r>
          </a:p>
          <a:p xmlns:a="http://schemas.openxmlformats.org/drawingml/2006/main">
            <a:r>
              <a:t>Sampaikan lugas bahwa eksperimen belum dijalankan. Tidak ada rate, interval, efek, atau p empiris. Dashboard menampilkan data sintetis untuk menguji fitur dan tidak boleh dijadikan bukti. Status analisis NOT_EXECUTED. Karena rubrik meminta menjalankan eksperimen, paket ini belum memenuhi unsur empiris tersebut. Peneliti harus memilih dua model, mengeksekusi resmi, memberi label, menganalisis, dan memperbarui naskah.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60 detik; rentang 11:05-12:05.</a:t>
            </a:r>
          </a:p>
          <a:p xmlns:a="http://schemas.openxmlformats.org/drawingml/2006/main">
            <a:r>
              <a:t/>
            </a:r>
          </a:p>
          <a:p xmlns:a="http://schemas.openxmlformats.org/drawingml/2006/main">
            <a:r>
              <a:t>Jika demonstrasi langsung, tunjukkan badge data simulasi dahulu, lalu pilih filter data nyata agar terlihat kosong. Buka rubrik dan ekspor data. Jangan memulai 600 permintaan selama presentasi. Kontrol akses API dilakukan di komputer, bukan menyimpan key di browser. Pengujian fungsi perangkat lunak bukan hasil eksperimen perilaku. Panduan langkah ada README paket.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65 detik; rentang 12:05-13:10.</a:t>
            </a:r>
          </a:p>
          <a:p xmlns:a="http://schemas.openxmlformats.org/drawingml/2006/main">
            <a:r>
              <a:t/>
            </a:r>
          </a:p>
          <a:p xmlns:a="http://schemas.openxmlformats.org/drawingml/2006/main">
            <a:r>
              <a:t>Tanggal per25Oktober2026: aturan risiko tinggi AnnexIII menuju2Desember2027; produk menuju2Agustus2028 melalui2026/1744. Tidak semua ketentuan ditunda. AS bukan tanpa aturan; fokus perbandingan hanya instrumen terpilih dan bukan inventaris semua hukum negara bagian. ActionPlan2025 mencatat pencabutan EO14110. Sumber: https://digital-strategy.ec.europa.eu/en/policies/enforcement-ai-act ; https://doi.org/10.6028/NIST.AI.100-1 ; https://www.whitehouse.gov/wp-content/uploads/2025/07/Americas-AI-Action-Plan.pdf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70 detik; rentang 13:10-14:20.</a:t>
            </a:r>
          </a:p>
          <a:p xmlns:a="http://schemas.openxmlformats.org/drawingml/2006/main">
            <a:r>
              <a:t/>
            </a:r>
          </a:p>
          <a:p xmlns:a="http://schemas.openxmlformats.org/drawingml/2006/main">
            <a:r>
              <a:t>Jelaskan hubungan UU27/2022: Pasal10 keberatan atas keputusan otomatis berdampak signifikan; Pasal20 dasar pemrosesan; Pasal34 penilaian dampak berisiko tinggi; Pasal46 notifikasi. Target100% bukan klaim program telah berjalan. Indikator harus diverifikasi lewat register, log yang diminimalkan, laporan independen, dan latihan insiden. Tidak ada hasil API yang menjadi dasar empiris rekomendasi saat ini. https://peraturan.bpk.go.id/Details/229798/uu-no-27-tahun-2022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40 detik; rentang 14:20-15:00.</a:t>
            </a:r>
          </a:p>
          <a:p xmlns:a="http://schemas.openxmlformats.org/drawingml/2006/main">
            <a:r>
              <a:t/>
            </a:r>
          </a:p>
          <a:p xmlns:a="http://schemas.openxmlformats.org/drawingml/2006/main">
            <a:r>
              <a:t>Tutup dengan tiga kalimat: kemampuan sempit bukan ASI; tujuan jelas dan kontrol alat dibutuhkan; status hasil harus jujur. Kajian AlphaZero mendukung plausibilitas beberapa mekanisme, tetapi eksperimen yang belum berjalan tidak dapat menguatkan atau melemahkan posisi awal secara empiris. Setelah15menit presentasi, sediakan10menit tanya jawab.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045663482b48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ef895c44a841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8cec2e29543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16847ee80042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72de0d65a441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d949d7d63840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57F6AD-AD6C-4E3E-95D9-80CBACF858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485EF3-8D63-4A42-8132-D486D8C33C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BFEDCF-E32A-4759-998F-7F25EDEECC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8E6588-5657-46F8-807E-19EAA37049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2630F5-19C3-490E-9FBF-BAE386A0FC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6268F5-FB4D-479F-A2A8-6AF31AE28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24915B-F839-446F-90C0-091918B4C3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459D9E-862A-4570-A47B-C4225E68F2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22BA0B-81C3-4482-93DD-9C835D070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4F940-B28F-4DBF-8CED-CC8F6CF81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ef7dc04de34a1a" /><Relationship Type="http://schemas.openxmlformats.org/officeDocument/2006/relationships/slideLayout" Target="/ppt/slideLayouts/slideLayout1.xml" Id="Rab9cb658bdb04b31" /><Relationship Type="http://schemas.openxmlformats.org/officeDocument/2006/relationships/slideLayout" Target="/ppt/slideLayouts/slideLayout2.xml" Id="R31eeb7fe784b48b6" /><Relationship Type="http://schemas.openxmlformats.org/officeDocument/2006/relationships/slideLayout" Target="/ppt/slideLayouts/slideLayout3.xml" Id="R4d1370b7b81c49a6" /><Relationship Type="http://schemas.openxmlformats.org/officeDocument/2006/relationships/slideLayout" Target="/ppt/slideLayouts/slideLayout4.xml" Id="R5ec38ee9c2b54125" /><Relationship Type="http://schemas.openxmlformats.org/officeDocument/2006/relationships/slideLayout" Target="/ppt/slideLayouts/slideLayout5.xml" Id="Rd5b8a90931d04d7d" /><Relationship Type="http://schemas.openxmlformats.org/officeDocument/2006/relationships/slideLayout" Target="/ppt/slideLayouts/slideLayout6.xml" Id="R55777a735cee46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9cb658bdb04b31"/>
    <p:sldLayoutId xmlns:r="http://schemas.openxmlformats.org/officeDocument/2006/relationships" id="2147483650" r:id="R31eeb7fe784b48b6"/>
    <p:sldLayoutId xmlns:r="http://schemas.openxmlformats.org/officeDocument/2006/relationships" id="2147483651" r:id="R4d1370b7b81c49a6"/>
    <p:sldLayoutId xmlns:r="http://schemas.openxmlformats.org/officeDocument/2006/relationships" id="2147483652" r:id="R5ec38ee9c2b54125"/>
    <p:sldLayoutId xmlns:r="http://schemas.openxmlformats.org/officeDocument/2006/relationships" id="2147483653" r:id="Rd5b8a90931d04d7d"/>
    <p:sldLayoutId xmlns:r="http://schemas.openxmlformats.org/officeDocument/2006/relationships" id="2147483654" r:id="R55777a735cee46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7dbe8243164bac" /><Relationship Type="http://schemas.openxmlformats.org/officeDocument/2006/relationships/notesSlide" Target="/ppt/notesSlides/notesSlide1.xml" Id="R7f05661d50f344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7a49014e2f4bc1" /><Relationship Type="http://schemas.openxmlformats.org/officeDocument/2006/relationships/notesSlide" Target="/ppt/notesSlides/notesSlide2.xml" Id="R80f6772df4b64d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5724f04d8c49bb" /><Relationship Type="http://schemas.openxmlformats.org/officeDocument/2006/relationships/notesSlide" Target="/ppt/notesSlides/notesSlide3.xml" Id="Rda1a3948188847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4a5dea9ccd4dfd" /><Relationship Type="http://schemas.openxmlformats.org/officeDocument/2006/relationships/notesSlide" Target="/ppt/notesSlides/notesSlide4.xml" Id="R934c47997cff42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b9eef73de0424a" /><Relationship Type="http://schemas.openxmlformats.org/officeDocument/2006/relationships/notesSlide" Target="/ppt/notesSlides/notesSlide5.xml" Id="Rd7edec68b5b744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328e09aeab4fa9" /><Relationship Type="http://schemas.openxmlformats.org/officeDocument/2006/relationships/notesSlide" Target="/ppt/notesSlides/notesSlide6.xml" Id="Rfecdc3a867de4e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40919c56324582" /><Relationship Type="http://schemas.openxmlformats.org/officeDocument/2006/relationships/notesSlide" Target="/ppt/notesSlides/notesSlide7.xml" Id="R4ce17115105243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b9ffbeabd74faf" /><Relationship Type="http://schemas.openxmlformats.org/officeDocument/2006/relationships/notesSlide" Target="/ppt/notesSlides/notesSlide8.xml" Id="Re5b6eb54df354b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99aca85fa2458e" /><Relationship Type="http://schemas.openxmlformats.org/officeDocument/2006/relationships/notesSlide" Target="/ppt/notesSlides/notesSlide9.xml" Id="R7f043bae0c7144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874d78f35f455f" /><Relationship Type="http://schemas.openxmlformats.org/officeDocument/2006/relationships/notesSlide" Target="/ppt/notesSlides/notesSlide10.xml" Id="R45f29086720d43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659a64165304c51" /><Relationship Type="http://schemas.openxmlformats.org/officeDocument/2006/relationships/notesSlide" Target="/ppt/notesSlides/notesSlide11.xml" Id="R7bf787c869414c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20cfcf8f554dfd" /><Relationship Type="http://schemas.openxmlformats.org/officeDocument/2006/relationships/notesSlide" Target="/ppt/notesSlides/notesSlide12.xml" Id="R1206a8706adc4a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a7e1eccc2c74b0c" /><Relationship Type="http://schemas.openxmlformats.org/officeDocument/2006/relationships/notesSlide" Target="/ppt/notesSlides/notesSlide13.xml" Id="Rff4550f5b89342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49a41e37e044a3" /><Relationship Type="http://schemas.openxmlformats.org/officeDocument/2006/relationships/notesSlide" Target="/ppt/notesSlides/notesSlide14.xml" Id="Rfb9c77442c1a4bbc" /></Relationships>
</file>

<file path=ppt/slides/slide1.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90A8FB-DE76-484C-8222-20D3A3077B6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A96904-F32D-472C-B204-C683DBB0AC07}"/>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TUGAS BESAR DOKTORAL · 26 OKTOBER 2026</a:t>
            </a:r>
          </a:p>
        </p:txBody>
      </p:sp>
      <p:sp>
        <p:nvSpPr>
          <p:cNvPr id="3" name="">
            <a:extLst xmlns:a="http://schemas.openxmlformats.org/drawingml/2006/main">
              <a:ext uri="{FF2B5EF4-FFF2-40B4-BE49-F238E27FC236}">
                <a16:creationId xmlns:a16="http://schemas.microsoft.com/office/drawing/2014/main" id="{5BCFF7BF-A395-43B2-BCAC-2E9DE380DD97}"/>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Keamanan Personal AI Agent</a:t>
            </a:r>
          </a:p>
        </p:txBody>
      </p:sp>
      <p:sp>
        <p:nvSpPr>
          <p:cNvPr id="4" name="">
            <a:extLst xmlns:a="http://schemas.openxmlformats.org/drawingml/2006/main">
              <a:ext uri="{FF2B5EF4-FFF2-40B4-BE49-F238E27FC236}">
                <a16:creationId xmlns:a16="http://schemas.microsoft.com/office/drawing/2014/main" id="{29E8BF33-5F37-47EC-B144-D5F7FD108462}"/>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5C4D3"/>
                </a:solidFill>
                <a:latin typeface="Arial"/>
                <a:ea typeface="Arial"/>
                <a:cs typeface="Arial"/>
              </a:defRPr>
            </a:defPPr>
            <a:lvl1pPr>
              <a:defRPr sz="1650" b="0">
                <a:solidFill>
                  <a:srgbClr val="B5C4D3"/>
                </a:solidFill>
                <a:latin typeface="Arial"/>
                <a:ea typeface="Arial"/>
                <a:cs typeface="Arial"/>
              </a:defRPr>
            </a:lvl1pPr>
            <a:lvl2pPr>
              <a:defRPr sz="1650" b="0">
                <a:solidFill>
                  <a:srgbClr val="B5C4D3"/>
                </a:solidFill>
                <a:latin typeface="Arial"/>
                <a:ea typeface="Arial"/>
                <a:cs typeface="Arial"/>
              </a:defRPr>
            </a:lvl2pPr>
            <a:lvl3pPr>
              <a:defRPr sz="1650" b="0">
                <a:solidFill>
                  <a:srgbClr val="B5C4D3"/>
                </a:solidFill>
                <a:latin typeface="Arial"/>
                <a:ea typeface="Arial"/>
                <a:cs typeface="Arial"/>
              </a:defRPr>
            </a:lvl3pPr>
            <a:lvl4pPr>
              <a:defRPr sz="1650" b="0">
                <a:solidFill>
                  <a:srgbClr val="B5C4D3"/>
                </a:solidFill>
                <a:latin typeface="Arial"/>
                <a:ea typeface="Arial"/>
                <a:cs typeface="Arial"/>
              </a:defRPr>
            </a:lvl4pPr>
            <a:lvl5pPr>
              <a:defRPr sz="1650" b="0">
                <a:solidFill>
                  <a:srgbClr val="B5C4D3"/>
                </a:solidFill>
                <a:latin typeface="Arial"/>
                <a:ea typeface="Arial"/>
                <a:cs typeface="Arial"/>
              </a:defRPr>
            </a:lvl5pPr>
            <a:lvl6pPr>
              <a:defRPr sz="1650" b="0">
                <a:solidFill>
                  <a:srgbClr val="B5C4D3"/>
                </a:solidFill>
                <a:latin typeface="Arial"/>
                <a:ea typeface="Arial"/>
                <a:cs typeface="Arial"/>
              </a:defRPr>
            </a:lvl6pPr>
            <a:lvl7pPr>
              <a:defRPr sz="1650" b="0">
                <a:solidFill>
                  <a:srgbClr val="B5C4D3"/>
                </a:solidFill>
                <a:latin typeface="Arial"/>
                <a:ea typeface="Arial"/>
                <a:cs typeface="Arial"/>
              </a:defRPr>
            </a:lvl7pPr>
            <a:lvl8pPr>
              <a:defRPr sz="1650" b="0">
                <a:solidFill>
                  <a:srgbClr val="B5C4D3"/>
                </a:solidFill>
                <a:latin typeface="Arial"/>
                <a:ea typeface="Arial"/>
                <a:cs typeface="Arial"/>
              </a:defRPr>
            </a:lvl8pPr>
            <a:lvl9pPr>
              <a:defRPr sz="1650" b="0">
                <a:solidFill>
                  <a:srgbClr val="B5C4D3"/>
                </a:solidFill>
                <a:latin typeface="Arial"/>
                <a:ea typeface="Arial"/>
                <a:cs typeface="Arial"/>
              </a:defRPr>
            </a:lvl9pPr>
          </a:lstStyle>
          <a:p xmlns:a="http://schemas.openxmlformats.org/drawingml/2006/main">
            <a:pPr>
              <a:defRPr sz="1650" b="0">
                <a:solidFill>
                  <a:srgbClr val="B5C4D3"/>
                </a:solidFill>
                <a:latin typeface="Arial"/>
                <a:ea typeface="Arial"/>
                <a:cs typeface="Arial"/>
              </a:defRPr>
            </a:pPr>
            <a:r>
              <a:rPr sz="1650" b="0">
                <a:solidFill>
                  <a:srgbClr val="B5C4D3"/>
                </a:solidFill>
                <a:latin typeface="Arial"/>
                <a:ea typeface="Arial"/>
                <a:cs typeface="Arial"/>
              </a:rPr>
              <a:t>Evaluasi Keamanan Personal AI Agent Menuju Artificial Superintelligence: Analisis AlphaZero dan Eksperimen Specification Gaming pada Tingkat Otonomi AI dalam Aktivitas Sehari-hari</a:t>
            </a:r>
          </a:p>
        </p:txBody>
      </p:sp>
      <p:sp>
        <p:nvSpPr>
          <p:cNvPr id="5" name="">
            <a:extLst xmlns:a="http://schemas.openxmlformats.org/drawingml/2006/main">
              <a:ext uri="{FF2B5EF4-FFF2-40B4-BE49-F238E27FC236}">
                <a16:creationId xmlns:a16="http://schemas.microsoft.com/office/drawing/2014/main" id="{D46F551E-A8E3-47F6-AFED-B75EF683E2C3}"/>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302F7B-FA63-4BD4-BE27-0E1AC94CCE7D}"/>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Studi kasus</a:t>
            </a:r>
          </a:p>
        </p:txBody>
      </p:sp>
      <p:sp>
        <p:nvSpPr>
          <p:cNvPr id="7" name="">
            <a:extLst xmlns:a="http://schemas.openxmlformats.org/drawingml/2006/main">
              <a:ext uri="{FF2B5EF4-FFF2-40B4-BE49-F238E27FC236}">
                <a16:creationId xmlns:a16="http://schemas.microsoft.com/office/drawing/2014/main" id="{F57837DA-EEDA-418A-A305-30FF13B25036}"/>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AlphaZero · Science 2018</a:t>
            </a:r>
          </a:p>
        </p:txBody>
      </p:sp>
      <p:sp>
        <p:nvSpPr>
          <p:cNvPr id="8" name="">
            <a:extLst xmlns:a="http://schemas.openxmlformats.org/drawingml/2006/main">
              <a:ext uri="{FF2B5EF4-FFF2-40B4-BE49-F238E27FC236}">
                <a16:creationId xmlns:a16="http://schemas.microsoft.com/office/drawing/2014/main" id="{D40D5C35-832B-4DFA-AFD0-C6D62B439DF6}"/>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EFF3A8-01AB-4492-A644-3D10899B28BF}"/>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Eksperimen</a:t>
            </a:r>
          </a:p>
        </p:txBody>
      </p:sp>
      <p:sp>
        <p:nvSpPr>
          <p:cNvPr id="10" name="">
            <a:extLst xmlns:a="http://schemas.openxmlformats.org/drawingml/2006/main">
              <a:ext uri="{FF2B5EF4-FFF2-40B4-BE49-F238E27FC236}">
                <a16:creationId xmlns:a16="http://schemas.microsoft.com/office/drawing/2014/main" id="{59083004-4675-4DE1-83FE-7EBC4CFC01A9}"/>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Specification gaming · 600 respons terencana</a:t>
            </a:r>
          </a:p>
        </p:txBody>
      </p:sp>
      <p:sp>
        <p:nvSpPr>
          <p:cNvPr id="11" name="">
            <a:extLst xmlns:a="http://schemas.openxmlformats.org/drawingml/2006/main">
              <a:ext uri="{FF2B5EF4-FFF2-40B4-BE49-F238E27FC236}">
                <a16:creationId xmlns:a16="http://schemas.microsoft.com/office/drawing/2014/main" id="{0E439D09-5110-49F3-8733-8C06491D1073}"/>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CD2B70-5B0F-4FD3-8B5D-E4BB13A58F22}"/>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Status</a:t>
            </a:r>
          </a:p>
        </p:txBody>
      </p:sp>
      <p:sp>
        <p:nvSpPr>
          <p:cNvPr id="13" name="">
            <a:extLst xmlns:a="http://schemas.openxmlformats.org/drawingml/2006/main">
              <a:ext uri="{FF2B5EF4-FFF2-40B4-BE49-F238E27FC236}">
                <a16:creationId xmlns:a16="http://schemas.microsoft.com/office/drawing/2014/main" id="{A8D8B1B3-5E49-4F2E-BDE6-CDED59B06BC1}"/>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Belum ada eksekusi API resmi</a:t>
            </a:r>
          </a:p>
        </p:txBody>
      </p:sp>
      <p:sp>
        <p:nvSpPr>
          <p:cNvPr id="14" name="">
            <a:extLst xmlns:a="http://schemas.openxmlformats.org/drawingml/2006/main">
              <a:ext uri="{FF2B5EF4-FFF2-40B4-BE49-F238E27FC236}">
                <a16:creationId xmlns:a16="http://schemas.microsoft.com/office/drawing/2014/main" id="{96BF31EB-7572-4F5C-A9D6-2CF0C5DD1A9F}"/>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CFA09C3D-8CC8-4FB8-B3A0-822C099AB89B}"/>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01 / 14</a:t>
            </a:r>
          </a:p>
        </p:txBody>
      </p:sp>
    </p:spTree>
    <p:extLst>
      <p:ext uri="{BB962C8B-B14F-4D97-AF65-F5344CB8AC3E}">
        <p14:creationId xmlns:p14="http://schemas.microsoft.com/office/powerpoint/2010/main" val="381725562"/>
      </p:ext>
    </p:extLst>
  </p:cSld>
</p:sld>
</file>

<file path=ppt/slides/slide2.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6C36FB5-8F77-431E-ABFD-904A5B7A94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CC98E8-D50E-46C4-9777-F52176F2CA70}"/>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7FB8224C-14EB-49FD-97FB-6DBC7078FA5B}"/>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Posisi awal: ASI mungkin dalam 20 tahun</a:t>
            </a:r>
          </a:p>
        </p:txBody>
      </p:sp>
      <p:sp>
        <p:nvSpPr>
          <p:cNvPr id="4" name="">
            <a:extLst xmlns:a="http://schemas.openxmlformats.org/drawingml/2006/main">
              <a:ext uri="{FF2B5EF4-FFF2-40B4-BE49-F238E27FC236}">
                <a16:creationId xmlns:a16="http://schemas.microsoft.com/office/drawing/2014/main" id="{5B013C6C-1722-473B-B476-41CECBCA9860}"/>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Horizon 2026–2046 adalah kemungkinan, bukan kepastian</a:t>
            </a:r>
          </a:p>
        </p:txBody>
      </p:sp>
      <p:sp>
        <p:nvSpPr>
          <p:cNvPr id="5" name="">
            <a:extLst xmlns:a="http://schemas.openxmlformats.org/drawingml/2006/main">
              <a:ext uri="{FF2B5EF4-FFF2-40B4-BE49-F238E27FC236}">
                <a16:creationId xmlns:a16="http://schemas.microsoft.com/office/drawing/2014/main" id="{B5713621-A39A-4BE6-A683-31FBF748223C}"/>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9D3244-99FD-4731-9AA2-8D031A27253E}"/>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Efisiensi penskalaan</a:t>
            </a:r>
          </a:p>
        </p:txBody>
      </p:sp>
      <p:sp>
        <p:nvSpPr>
          <p:cNvPr id="7" name="">
            <a:extLst xmlns:a="http://schemas.openxmlformats.org/drawingml/2006/main">
              <a:ext uri="{FF2B5EF4-FFF2-40B4-BE49-F238E27FC236}">
                <a16:creationId xmlns:a16="http://schemas.microsoft.com/office/drawing/2014/main" id="{45C0AA93-61FC-45DA-82DC-EB742F0DE457}"/>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Alokasi komputasi, model, dan data dapat memperbaiki kemampuan</a:t>
            </a:r>
          </a:p>
        </p:txBody>
      </p:sp>
      <p:sp>
        <p:nvSpPr>
          <p:cNvPr id="8" name="">
            <a:extLst xmlns:a="http://schemas.openxmlformats.org/drawingml/2006/main">
              <a:ext uri="{FF2B5EF4-FFF2-40B4-BE49-F238E27FC236}">
                <a16:creationId xmlns:a16="http://schemas.microsoft.com/office/drawing/2014/main" id="{E8C1F65A-A7CE-4C77-AA01-9BD7DCA4C083}"/>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08D8F8-A453-49F8-BBE5-8F2DC6EF4488}"/>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Pencarian dan umpan balik</a:t>
            </a:r>
          </a:p>
        </p:txBody>
      </p:sp>
      <p:sp>
        <p:nvSpPr>
          <p:cNvPr id="10" name="">
            <a:extLst xmlns:a="http://schemas.openxmlformats.org/drawingml/2006/main">
              <a:ext uri="{FF2B5EF4-FFF2-40B4-BE49-F238E27FC236}">
                <a16:creationId xmlns:a16="http://schemas.microsoft.com/office/drawing/2014/main" id="{5942E1D8-41F4-4A0A-9215-1B1A6848FD72}"/>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Siklus pengalaman → evaluasi → perbaikan kebijakan</a:t>
            </a:r>
          </a:p>
        </p:txBody>
      </p:sp>
      <p:sp>
        <p:nvSpPr>
          <p:cNvPr id="11" name="">
            <a:extLst xmlns:a="http://schemas.openxmlformats.org/drawingml/2006/main">
              <a:ext uri="{FF2B5EF4-FFF2-40B4-BE49-F238E27FC236}">
                <a16:creationId xmlns:a16="http://schemas.microsoft.com/office/drawing/2014/main" id="{D1B3FDBF-0259-4FC6-A1A1-D99C9CB3F154}"/>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2FB0FF-BF9F-49CB-B235-C4576045E801}"/>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Model dan alat</a:t>
            </a:r>
          </a:p>
        </p:txBody>
      </p:sp>
      <p:sp>
        <p:nvSpPr>
          <p:cNvPr id="13" name="">
            <a:extLst xmlns:a="http://schemas.openxmlformats.org/drawingml/2006/main">
              <a:ext uri="{FF2B5EF4-FFF2-40B4-BE49-F238E27FC236}">
                <a16:creationId xmlns:a16="http://schemas.microsoft.com/office/drawing/2014/main" id="{01581214-77CF-459F-BAFD-80D230745D95}"/>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Kemampuan sistem dapat tumbuh melalui komposisi</a:t>
            </a:r>
          </a:p>
        </p:txBody>
      </p:sp>
      <p:sp>
        <p:nvSpPr>
          <p:cNvPr id="14" name="">
            <a:extLst xmlns:a="http://schemas.openxmlformats.org/drawingml/2006/main">
              <a:ext uri="{FF2B5EF4-FFF2-40B4-BE49-F238E27FC236}">
                <a16:creationId xmlns:a16="http://schemas.microsoft.com/office/drawing/2014/main" id="{39A5E90A-BBF4-4F07-8D41-9E9E1CEBFAEF}"/>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BB6BECF4-757F-432F-B9EF-E26E5793E74A}"/>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02 / 14</a:t>
            </a:r>
          </a:p>
        </p:txBody>
      </p:sp>
    </p:spTree>
    <p:extLst>
      <p:ext uri="{BB962C8B-B14F-4D97-AF65-F5344CB8AC3E}">
        <p14:creationId xmlns:p14="http://schemas.microsoft.com/office/powerpoint/2010/main" val="727327931"/>
      </p:ext>
    </p:extLst>
  </p:cSld>
</p:sld>
</file>

<file path=ppt/slides/slide3.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C3693A-0BDF-4037-9959-35BDD9F8CB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BDA36-68FD-44CF-8177-F4BD2A774FB6}"/>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623C00B6-A436-4E2E-B44A-61357E124285}"/>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Argumen lawan dan prediksi ahli</a:t>
            </a:r>
          </a:p>
        </p:txBody>
      </p:sp>
      <p:sp>
        <p:nvSpPr>
          <p:cNvPr id="4" name="">
            <a:extLst xmlns:a="http://schemas.openxmlformats.org/drawingml/2006/main">
              <a:ext uri="{FF2B5EF4-FFF2-40B4-BE49-F238E27FC236}">
                <a16:creationId xmlns:a16="http://schemas.microsoft.com/office/drawing/2014/main" id="{86937E42-C6C3-445C-9ED0-F3FBD1F77DB0}"/>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Kemajuan benchmark belum menjamin generalisasi yang andal</a:t>
            </a:r>
          </a:p>
        </p:txBody>
      </p:sp>
      <p:sp>
        <p:nvSpPr>
          <p:cNvPr id="5" name="">
            <a:extLst xmlns:a="http://schemas.openxmlformats.org/drawingml/2006/main">
              <a:ext uri="{FF2B5EF4-FFF2-40B4-BE49-F238E27FC236}">
                <a16:creationId xmlns:a16="http://schemas.microsoft.com/office/drawing/2014/main" id="{0E003482-F972-49E4-B365-774ACB195414}"/>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6F57A7-5CB8-4B60-B6B5-8CE502992997}"/>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Argumen lawan</a:t>
            </a:r>
          </a:p>
        </p:txBody>
      </p:sp>
      <p:sp>
        <p:nvSpPr>
          <p:cNvPr id="7" name="">
            <a:extLst xmlns:a="http://schemas.openxmlformats.org/drawingml/2006/main">
              <a:ext uri="{FF2B5EF4-FFF2-40B4-BE49-F238E27FC236}">
                <a16:creationId xmlns:a16="http://schemas.microsoft.com/office/drawing/2014/main" id="{4B8A3AF6-5419-4061-BCDD-84C24D416ACF}"/>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Kesalahan berantai, distribusi baru, dan pengawasan mahal</a:t>
            </a:r>
          </a:p>
        </p:txBody>
      </p:sp>
      <p:sp>
        <p:nvSpPr>
          <p:cNvPr id="8" name="">
            <a:extLst xmlns:a="http://schemas.openxmlformats.org/drawingml/2006/main">
              <a:ext uri="{FF2B5EF4-FFF2-40B4-BE49-F238E27FC236}">
                <a16:creationId xmlns:a16="http://schemas.microsoft.com/office/drawing/2014/main" id="{0E8AB435-F292-453D-BB20-55CCC98CD862}"/>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F99564-7353-485D-BB59-D6C28ECDCF62}"/>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Survei 2.778 penulis AI</a:t>
            </a:r>
          </a:p>
        </p:txBody>
      </p:sp>
      <p:sp>
        <p:nvSpPr>
          <p:cNvPr id="10" name="">
            <a:extLst xmlns:a="http://schemas.openxmlformats.org/drawingml/2006/main">
              <a:ext uri="{FF2B5EF4-FFF2-40B4-BE49-F238E27FC236}">
                <a16:creationId xmlns:a16="http://schemas.microsoft.com/office/drawing/2014/main" id="{EC7BE38D-CE67-4473-97F1-CDBB5F1C8580}"/>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Agregat 50% untuk HLMI pada 2047; bukan tanggal ASI</a:t>
            </a:r>
          </a:p>
        </p:txBody>
      </p:sp>
      <p:sp>
        <p:nvSpPr>
          <p:cNvPr id="11" name="">
            <a:extLst xmlns:a="http://schemas.openxmlformats.org/drawingml/2006/main">
              <a:ext uri="{FF2B5EF4-FFF2-40B4-BE49-F238E27FC236}">
                <a16:creationId xmlns:a16="http://schemas.microsoft.com/office/drawing/2014/main" id="{4472A93B-79EC-46EC-9BB2-A9440BBE75A9}"/>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EE23BA-AC23-43CA-8FF7-56D1CFF08C31}"/>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Kritik metodologi</a:t>
            </a:r>
          </a:p>
        </p:txBody>
      </p:sp>
      <p:sp>
        <p:nvSpPr>
          <p:cNvPr id="13" name="">
            <a:extLst xmlns:a="http://schemas.openxmlformats.org/drawingml/2006/main">
              <a:ext uri="{FF2B5EF4-FFF2-40B4-BE49-F238E27FC236}">
                <a16:creationId xmlns:a16="http://schemas.microsoft.com/office/drawing/2014/main" id="{CA92FBD1-02AC-4CC3-88BA-B006B80ED0AB}"/>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Bias respons, definisi, jangkar waktu, dan agregasi pendapat</a:t>
            </a:r>
          </a:p>
        </p:txBody>
      </p:sp>
      <p:sp>
        <p:nvSpPr>
          <p:cNvPr id="14" name="">
            <a:extLst xmlns:a="http://schemas.openxmlformats.org/drawingml/2006/main">
              <a:ext uri="{FF2B5EF4-FFF2-40B4-BE49-F238E27FC236}">
                <a16:creationId xmlns:a16="http://schemas.microsoft.com/office/drawing/2014/main" id="{3ECA8F16-B396-4DA3-9A40-FCAFABF9C3B8}"/>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2CA9B800-62B2-4B72-9EF3-F87C8D4EAC66}"/>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03 / 14</a:t>
            </a:r>
          </a:p>
        </p:txBody>
      </p:sp>
    </p:spTree>
    <p:extLst>
      <p:ext uri="{BB962C8B-B14F-4D97-AF65-F5344CB8AC3E}">
        <p14:creationId xmlns:p14="http://schemas.microsoft.com/office/powerpoint/2010/main" val="63481468"/>
      </p:ext>
    </p:extLst>
  </p:cSld>
</p:sld>
</file>

<file path=ppt/slides/slide4.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AE4D21-5CCC-4068-8F78-012491E1978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628F73-53C1-4A8B-A6D2-CA85B8A1318F}"/>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C8D6E545-AD73-4EBD-A4C8-C4787367E0FE}"/>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AlphaZero: masalah dan arsitektur</a:t>
            </a:r>
          </a:p>
        </p:txBody>
      </p:sp>
      <p:sp>
        <p:nvSpPr>
          <p:cNvPr id="4" name="">
            <a:extLst xmlns:a="http://schemas.openxmlformats.org/drawingml/2006/main">
              <a:ext uri="{FF2B5EF4-FFF2-40B4-BE49-F238E27FC236}">
                <a16:creationId xmlns:a16="http://schemas.microsoft.com/office/drawing/2014/main" id="{0AA4704D-00C2-4235-A75A-757196F0FB42}"/>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Satu pendekatan pelatihan, instans terpisah untuk tiap permainan</a:t>
            </a:r>
          </a:p>
        </p:txBody>
      </p:sp>
      <p:sp>
        <p:nvSpPr>
          <p:cNvPr id="5" name="">
            <a:extLst xmlns:a="http://schemas.openxmlformats.org/drawingml/2006/main">
              <a:ext uri="{FF2B5EF4-FFF2-40B4-BE49-F238E27FC236}">
                <a16:creationId xmlns:a16="http://schemas.microsoft.com/office/drawing/2014/main" id="{32725F85-A924-494B-BA15-16144D8F8107}"/>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322259-80AD-4B71-A9BA-8D2E669DB328}"/>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Masalah</a:t>
            </a:r>
          </a:p>
        </p:txBody>
      </p:sp>
      <p:sp>
        <p:nvSpPr>
          <p:cNvPr id="7" name="">
            <a:extLst xmlns:a="http://schemas.openxmlformats.org/drawingml/2006/main">
              <a:ext uri="{FF2B5EF4-FFF2-40B4-BE49-F238E27FC236}">
                <a16:creationId xmlns:a16="http://schemas.microsoft.com/office/drawing/2014/main" id="{08E22A8E-F47D-43E4-BC69-7DB3E518733E}"/>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Pencarian keputusan berjangka panjang pada catur, shogi, dan Go</a:t>
            </a:r>
          </a:p>
        </p:txBody>
      </p:sp>
      <p:sp>
        <p:nvSpPr>
          <p:cNvPr id="8" name="">
            <a:extLst xmlns:a="http://schemas.openxmlformats.org/drawingml/2006/main">
              <a:ext uri="{FF2B5EF4-FFF2-40B4-BE49-F238E27FC236}">
                <a16:creationId xmlns:a16="http://schemas.microsoft.com/office/drawing/2014/main" id="{82CD9FB5-9779-4919-9973-9FEE4D91DBC5}"/>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D2B0E9-4A86-4678-A6D8-2086421D79C9}"/>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Jaringan</a:t>
            </a:r>
          </a:p>
        </p:txBody>
      </p:sp>
      <p:sp>
        <p:nvSpPr>
          <p:cNvPr id="10" name="">
            <a:extLst xmlns:a="http://schemas.openxmlformats.org/drawingml/2006/main">
              <a:ext uri="{FF2B5EF4-FFF2-40B4-BE49-F238E27FC236}">
                <a16:creationId xmlns:a16="http://schemas.microsoft.com/office/drawing/2014/main" id="{4BD0DB6D-958D-4757-AC54-589D4CF2C870}"/>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Konvolusi + 19 blok residual, 256 filter; policy dan value</a:t>
            </a:r>
          </a:p>
        </p:txBody>
      </p:sp>
      <p:sp>
        <p:nvSpPr>
          <p:cNvPr id="11" name="">
            <a:extLst xmlns:a="http://schemas.openxmlformats.org/drawingml/2006/main">
              <a:ext uri="{FF2B5EF4-FFF2-40B4-BE49-F238E27FC236}">
                <a16:creationId xmlns:a16="http://schemas.microsoft.com/office/drawing/2014/main" id="{74EDD27E-C61F-4127-A71B-EC681A58BEAB}"/>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3831B5-23A7-4A66-B8E2-4364F1B98F16}"/>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Yang tetap diberikan</a:t>
            </a:r>
          </a:p>
        </p:txBody>
      </p:sp>
      <p:sp>
        <p:nvSpPr>
          <p:cNvPr id="13" name="">
            <a:extLst xmlns:a="http://schemas.openxmlformats.org/drawingml/2006/main">
              <a:ext uri="{FF2B5EF4-FFF2-40B4-BE49-F238E27FC236}">
                <a16:creationId xmlns:a16="http://schemas.microsoft.com/office/drawing/2014/main" id="{FC79B0BF-4C21-48EB-A2FA-435F1C6FFDB8}"/>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Aturan, representasi, langkah legal, dan reward terminal</a:t>
            </a:r>
          </a:p>
        </p:txBody>
      </p:sp>
      <p:sp>
        <p:nvSpPr>
          <p:cNvPr id="14" name="">
            <a:extLst xmlns:a="http://schemas.openxmlformats.org/drawingml/2006/main">
              <a:ext uri="{FF2B5EF4-FFF2-40B4-BE49-F238E27FC236}">
                <a16:creationId xmlns:a16="http://schemas.microsoft.com/office/drawing/2014/main" id="{0F9C0438-A968-4A22-AA10-749634919964}"/>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D3366A06-16FA-4E75-80CC-E5E2F9886417}"/>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04 / 14</a:t>
            </a:r>
          </a:p>
        </p:txBody>
      </p:sp>
    </p:spTree>
    <p:extLst>
      <p:ext uri="{BB962C8B-B14F-4D97-AF65-F5344CB8AC3E}">
        <p14:creationId xmlns:p14="http://schemas.microsoft.com/office/powerpoint/2010/main" val="1933057718"/>
      </p:ext>
    </p:extLst>
  </p:cSld>
</p:sld>
</file>

<file path=ppt/slides/slide5.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76CBB29-D32F-4EA5-81C2-D78E7CC84AB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4B60F3-C86C-4ECB-BA72-3F1A78C7E776}"/>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796F3406-9189-4F43-8510-2502D70DDF08}"/>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Siklus MCTS dan self-play</a:t>
            </a:r>
          </a:p>
        </p:txBody>
      </p:sp>
      <p:sp>
        <p:nvSpPr>
          <p:cNvPr id="4" name="">
            <a:extLst xmlns:a="http://schemas.openxmlformats.org/drawingml/2006/main">
              <a:ext uri="{FF2B5EF4-FFF2-40B4-BE49-F238E27FC236}">
                <a16:creationId xmlns:a16="http://schemas.microsoft.com/office/drawing/2014/main" id="{86043570-9F2C-4974-8227-9DB345F2B233}"/>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Pencarian menghasilkan target yang memperbaiki jaringan</a:t>
            </a:r>
          </a:p>
        </p:txBody>
      </p:sp>
      <p:sp>
        <p:nvSpPr>
          <p:cNvPr id="5" name="">
            <a:extLst xmlns:a="http://schemas.openxmlformats.org/drawingml/2006/main">
              <a:ext uri="{FF2B5EF4-FFF2-40B4-BE49-F238E27FC236}">
                <a16:creationId xmlns:a16="http://schemas.microsoft.com/office/drawing/2014/main" id="{42899061-A6EE-4DF2-A560-34BD9A6D0864}"/>
              </a:ext>
            </a:extLst>
          </p:cNvPr>
          <p:cNvSpPr>
            <a:spLocks xmlns:a="http://schemas.openxmlformats.org/drawingml/2006/main" noGrp="1"/>
          </p:cNvSpPr>
          <p:nvPr/>
        </p:nvSpPr>
        <p:spPr>
          <a:xfrm xmlns:a="http://schemas.openxmlformats.org/drawingml/2006/main">
            <a:off x="609600" y="3095625"/>
            <a:ext cx="2590800" cy="2190750"/>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737CD8-3205-4C58-86BE-12B5F07235DB}"/>
              </a:ext>
            </a:extLst>
          </p:cNvPr>
          <p:cNvSpPr>
            <a:spLocks xmlns:a="http://schemas.openxmlformats.org/drawingml/2006/main" noGrp="1"/>
          </p:cNvSpPr>
          <p:nvPr/>
        </p:nvSpPr>
        <p:spPr>
          <a:xfrm xmlns:a="http://schemas.openxmlformats.org/drawingml/2006/main">
            <a:off x="800100" y="33432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1 · Posisi</a:t>
            </a:r>
          </a:p>
        </p:txBody>
      </p:sp>
      <p:sp>
        <p:nvSpPr>
          <p:cNvPr id="7" name="">
            <a:extLst xmlns:a="http://schemas.openxmlformats.org/drawingml/2006/main">
              <a:ext uri="{FF2B5EF4-FFF2-40B4-BE49-F238E27FC236}">
                <a16:creationId xmlns:a16="http://schemas.microsoft.com/office/drawing/2014/main" id="{AA836661-200F-4009-9B7A-70D9D7961DC6}"/>
              </a:ext>
            </a:extLst>
          </p:cNvPr>
          <p:cNvSpPr>
            <a:spLocks xmlns:a="http://schemas.openxmlformats.org/drawingml/2006/main" noGrp="1"/>
          </p:cNvSpPr>
          <p:nvPr/>
        </p:nvSpPr>
        <p:spPr>
          <a:xfrm xmlns:a="http://schemas.openxmlformats.org/drawingml/2006/main">
            <a:off x="800100" y="395287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Jaringan menghasilkan prior p dan nilai v</a:t>
            </a:r>
          </a:p>
        </p:txBody>
      </p:sp>
      <p:sp>
        <p:nvSpPr>
          <p:cNvPr id="8" name="">
            <a:extLst xmlns:a="http://schemas.openxmlformats.org/drawingml/2006/main">
              <a:ext uri="{FF2B5EF4-FFF2-40B4-BE49-F238E27FC236}">
                <a16:creationId xmlns:a16="http://schemas.microsoft.com/office/drawing/2014/main" id="{1BCE7F77-48FD-4F5F-BAA8-63854A7A98F2}"/>
              </a:ext>
            </a:extLst>
          </p:cNvPr>
          <p:cNvSpPr>
            <a:spLocks xmlns:a="http://schemas.openxmlformats.org/drawingml/2006/main" noGrp="1"/>
          </p:cNvSpPr>
          <p:nvPr/>
        </p:nvSpPr>
        <p:spPr>
          <a:xfrm xmlns:a="http://schemas.openxmlformats.org/drawingml/2006/main">
            <a:off x="3152775" y="3943350"/>
            <a:ext cx="27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4DDC7"/>
                </a:solidFill>
                <a:latin typeface="Arial"/>
                <a:ea typeface="Arial"/>
                <a:cs typeface="Arial"/>
              </a:defRPr>
            </a:defPPr>
            <a:lvl1pPr>
              <a:defRPr sz="1800" b="1">
                <a:solidFill>
                  <a:srgbClr val="64DDC7"/>
                </a:solidFill>
                <a:latin typeface="Arial"/>
                <a:ea typeface="Arial"/>
                <a:cs typeface="Arial"/>
              </a:defRPr>
            </a:lvl1pPr>
            <a:lvl2pPr>
              <a:defRPr sz="1800" b="1">
                <a:solidFill>
                  <a:srgbClr val="64DDC7"/>
                </a:solidFill>
                <a:latin typeface="Arial"/>
                <a:ea typeface="Arial"/>
                <a:cs typeface="Arial"/>
              </a:defRPr>
            </a:lvl2pPr>
            <a:lvl3pPr>
              <a:defRPr sz="1800" b="1">
                <a:solidFill>
                  <a:srgbClr val="64DDC7"/>
                </a:solidFill>
                <a:latin typeface="Arial"/>
                <a:ea typeface="Arial"/>
                <a:cs typeface="Arial"/>
              </a:defRPr>
            </a:lvl3pPr>
            <a:lvl4pPr>
              <a:defRPr sz="1800" b="1">
                <a:solidFill>
                  <a:srgbClr val="64DDC7"/>
                </a:solidFill>
                <a:latin typeface="Arial"/>
                <a:ea typeface="Arial"/>
                <a:cs typeface="Arial"/>
              </a:defRPr>
            </a:lvl4pPr>
            <a:lvl5pPr>
              <a:defRPr sz="1800" b="1">
                <a:solidFill>
                  <a:srgbClr val="64DDC7"/>
                </a:solidFill>
                <a:latin typeface="Arial"/>
                <a:ea typeface="Arial"/>
                <a:cs typeface="Arial"/>
              </a:defRPr>
            </a:lvl5pPr>
            <a:lvl6pPr>
              <a:defRPr sz="1800" b="1">
                <a:solidFill>
                  <a:srgbClr val="64DDC7"/>
                </a:solidFill>
                <a:latin typeface="Arial"/>
                <a:ea typeface="Arial"/>
                <a:cs typeface="Arial"/>
              </a:defRPr>
            </a:lvl6pPr>
            <a:lvl7pPr>
              <a:defRPr sz="1800" b="1">
                <a:solidFill>
                  <a:srgbClr val="64DDC7"/>
                </a:solidFill>
                <a:latin typeface="Arial"/>
                <a:ea typeface="Arial"/>
                <a:cs typeface="Arial"/>
              </a:defRPr>
            </a:lvl7pPr>
            <a:lvl8pPr>
              <a:defRPr sz="1800" b="1">
                <a:solidFill>
                  <a:srgbClr val="64DDC7"/>
                </a:solidFill>
                <a:latin typeface="Arial"/>
                <a:ea typeface="Arial"/>
                <a:cs typeface="Arial"/>
              </a:defRPr>
            </a:lvl8pPr>
            <a:lvl9pPr>
              <a:defRPr sz="1800" b="1">
                <a:solidFill>
                  <a:srgbClr val="64DDC7"/>
                </a:solidFill>
                <a:latin typeface="Arial"/>
                <a:ea typeface="Arial"/>
                <a:cs typeface="Arial"/>
              </a:defRPr>
            </a:lvl9pPr>
          </a:lstStyle>
          <a:p xmlns:a="http://schemas.openxmlformats.org/drawingml/2006/main">
            <a:pPr>
              <a:defRPr sz="1800" b="1">
                <a:solidFill>
                  <a:srgbClr val="64DDC7"/>
                </a:solidFill>
                <a:latin typeface="Arial"/>
                <a:ea typeface="Arial"/>
                <a:cs typeface="Arial"/>
              </a:defRPr>
            </a:pPr>
            <a:r>
              <a:rPr sz="1800" b="1">
                <a:solidFill>
                  <a:srgbClr val="64DDC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9E6DFBB-958D-41F6-81BC-D69FEDC79D2F}"/>
              </a:ext>
            </a:extLst>
          </p:cNvPr>
          <p:cNvSpPr>
            <a:spLocks xmlns:a="http://schemas.openxmlformats.org/drawingml/2006/main" noGrp="1"/>
          </p:cNvSpPr>
          <p:nvPr/>
        </p:nvSpPr>
        <p:spPr>
          <a:xfrm xmlns:a="http://schemas.openxmlformats.org/drawingml/2006/main">
            <a:off x="3390900" y="3095625"/>
            <a:ext cx="2590800" cy="2190750"/>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3EC1A7-D77C-4248-ADAA-E3BCEFD17F35}"/>
              </a:ext>
            </a:extLst>
          </p:cNvPr>
          <p:cNvSpPr>
            <a:spLocks xmlns:a="http://schemas.openxmlformats.org/drawingml/2006/main" noGrp="1"/>
          </p:cNvSpPr>
          <p:nvPr/>
        </p:nvSpPr>
        <p:spPr>
          <a:xfrm xmlns:a="http://schemas.openxmlformats.org/drawingml/2006/main">
            <a:off x="3581400" y="33432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2 · MCTS</a:t>
            </a:r>
          </a:p>
        </p:txBody>
      </p:sp>
      <p:sp>
        <p:nvSpPr>
          <p:cNvPr id="11" name="">
            <a:extLst xmlns:a="http://schemas.openxmlformats.org/drawingml/2006/main">
              <a:ext uri="{FF2B5EF4-FFF2-40B4-BE49-F238E27FC236}">
                <a16:creationId xmlns:a16="http://schemas.microsoft.com/office/drawing/2014/main" id="{B12645F3-9E9D-4FD4-98EB-4CD8F289E392}"/>
              </a:ext>
            </a:extLst>
          </p:cNvPr>
          <p:cNvSpPr>
            <a:spLocks xmlns:a="http://schemas.openxmlformats.org/drawingml/2006/main" noGrp="1"/>
          </p:cNvSpPr>
          <p:nvPr/>
        </p:nvSpPr>
        <p:spPr>
          <a:xfrm xmlns:a="http://schemas.openxmlformats.org/drawingml/2006/main">
            <a:off x="3581400" y="395287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Seleksi Q + U; 800 simulasi/langkah saat pelatihan</a:t>
            </a:r>
          </a:p>
        </p:txBody>
      </p:sp>
      <p:sp>
        <p:nvSpPr>
          <p:cNvPr id="12" name="">
            <a:extLst xmlns:a="http://schemas.openxmlformats.org/drawingml/2006/main">
              <a:ext uri="{FF2B5EF4-FFF2-40B4-BE49-F238E27FC236}">
                <a16:creationId xmlns:a16="http://schemas.microsoft.com/office/drawing/2014/main" id="{654795A2-1F55-474B-AC64-7BC72FAE7BB3}"/>
              </a:ext>
            </a:extLst>
          </p:cNvPr>
          <p:cNvSpPr>
            <a:spLocks xmlns:a="http://schemas.openxmlformats.org/drawingml/2006/main" noGrp="1"/>
          </p:cNvSpPr>
          <p:nvPr/>
        </p:nvSpPr>
        <p:spPr>
          <a:xfrm xmlns:a="http://schemas.openxmlformats.org/drawingml/2006/main">
            <a:off x="5934075" y="3943350"/>
            <a:ext cx="27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4DDC7"/>
                </a:solidFill>
                <a:latin typeface="Arial"/>
                <a:ea typeface="Arial"/>
                <a:cs typeface="Arial"/>
              </a:defRPr>
            </a:defPPr>
            <a:lvl1pPr>
              <a:defRPr sz="1800" b="1">
                <a:solidFill>
                  <a:srgbClr val="64DDC7"/>
                </a:solidFill>
                <a:latin typeface="Arial"/>
                <a:ea typeface="Arial"/>
                <a:cs typeface="Arial"/>
              </a:defRPr>
            </a:lvl1pPr>
            <a:lvl2pPr>
              <a:defRPr sz="1800" b="1">
                <a:solidFill>
                  <a:srgbClr val="64DDC7"/>
                </a:solidFill>
                <a:latin typeface="Arial"/>
                <a:ea typeface="Arial"/>
                <a:cs typeface="Arial"/>
              </a:defRPr>
            </a:lvl2pPr>
            <a:lvl3pPr>
              <a:defRPr sz="1800" b="1">
                <a:solidFill>
                  <a:srgbClr val="64DDC7"/>
                </a:solidFill>
                <a:latin typeface="Arial"/>
                <a:ea typeface="Arial"/>
                <a:cs typeface="Arial"/>
              </a:defRPr>
            </a:lvl3pPr>
            <a:lvl4pPr>
              <a:defRPr sz="1800" b="1">
                <a:solidFill>
                  <a:srgbClr val="64DDC7"/>
                </a:solidFill>
                <a:latin typeface="Arial"/>
                <a:ea typeface="Arial"/>
                <a:cs typeface="Arial"/>
              </a:defRPr>
            </a:lvl4pPr>
            <a:lvl5pPr>
              <a:defRPr sz="1800" b="1">
                <a:solidFill>
                  <a:srgbClr val="64DDC7"/>
                </a:solidFill>
                <a:latin typeface="Arial"/>
                <a:ea typeface="Arial"/>
                <a:cs typeface="Arial"/>
              </a:defRPr>
            </a:lvl5pPr>
            <a:lvl6pPr>
              <a:defRPr sz="1800" b="1">
                <a:solidFill>
                  <a:srgbClr val="64DDC7"/>
                </a:solidFill>
                <a:latin typeface="Arial"/>
                <a:ea typeface="Arial"/>
                <a:cs typeface="Arial"/>
              </a:defRPr>
            </a:lvl6pPr>
            <a:lvl7pPr>
              <a:defRPr sz="1800" b="1">
                <a:solidFill>
                  <a:srgbClr val="64DDC7"/>
                </a:solidFill>
                <a:latin typeface="Arial"/>
                <a:ea typeface="Arial"/>
                <a:cs typeface="Arial"/>
              </a:defRPr>
            </a:lvl7pPr>
            <a:lvl8pPr>
              <a:defRPr sz="1800" b="1">
                <a:solidFill>
                  <a:srgbClr val="64DDC7"/>
                </a:solidFill>
                <a:latin typeface="Arial"/>
                <a:ea typeface="Arial"/>
                <a:cs typeface="Arial"/>
              </a:defRPr>
            </a:lvl8pPr>
            <a:lvl9pPr>
              <a:defRPr sz="1800" b="1">
                <a:solidFill>
                  <a:srgbClr val="64DDC7"/>
                </a:solidFill>
                <a:latin typeface="Arial"/>
                <a:ea typeface="Arial"/>
                <a:cs typeface="Arial"/>
              </a:defRPr>
            </a:lvl9pPr>
          </a:lstStyle>
          <a:p xmlns:a="http://schemas.openxmlformats.org/drawingml/2006/main">
            <a:pPr>
              <a:defRPr sz="1800" b="1">
                <a:solidFill>
                  <a:srgbClr val="64DDC7"/>
                </a:solidFill>
                <a:latin typeface="Arial"/>
                <a:ea typeface="Arial"/>
                <a:cs typeface="Arial"/>
              </a:defRPr>
            </a:pPr>
            <a:r>
              <a:rPr sz="1800" b="1">
                <a:solidFill>
                  <a:srgbClr val="64DDC7"/>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68101F7-8412-428D-AD3C-D394818A07B1}"/>
              </a:ext>
            </a:extLst>
          </p:cNvPr>
          <p:cNvSpPr>
            <a:spLocks xmlns:a="http://schemas.openxmlformats.org/drawingml/2006/main" noGrp="1"/>
          </p:cNvSpPr>
          <p:nvPr/>
        </p:nvSpPr>
        <p:spPr>
          <a:xfrm xmlns:a="http://schemas.openxmlformats.org/drawingml/2006/main">
            <a:off x="6172200" y="3095625"/>
            <a:ext cx="2590800" cy="2190750"/>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E4BE93-9497-4334-9920-CC151D591DDC}"/>
              </a:ext>
            </a:extLst>
          </p:cNvPr>
          <p:cNvSpPr>
            <a:spLocks xmlns:a="http://schemas.openxmlformats.org/drawingml/2006/main" noGrp="1"/>
          </p:cNvSpPr>
          <p:nvPr/>
        </p:nvSpPr>
        <p:spPr>
          <a:xfrm xmlns:a="http://schemas.openxmlformats.org/drawingml/2006/main">
            <a:off x="6362700" y="33432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3 · Self-play</a:t>
            </a:r>
          </a:p>
        </p:txBody>
      </p:sp>
      <p:sp>
        <p:nvSpPr>
          <p:cNvPr id="15" name="">
            <a:extLst xmlns:a="http://schemas.openxmlformats.org/drawingml/2006/main">
              <a:ext uri="{FF2B5EF4-FFF2-40B4-BE49-F238E27FC236}">
                <a16:creationId xmlns:a16="http://schemas.microsoft.com/office/drawing/2014/main" id="{257EED3D-0277-4920-B009-3B29FA5FF4F1}"/>
              </a:ext>
            </a:extLst>
          </p:cNvPr>
          <p:cNvSpPr>
            <a:spLocks xmlns:a="http://schemas.openxmlformats.org/drawingml/2006/main" noGrp="1"/>
          </p:cNvSpPr>
          <p:nvPr/>
        </p:nvSpPr>
        <p:spPr>
          <a:xfrm xmlns:a="http://schemas.openxmlformats.org/drawingml/2006/main">
            <a:off x="6362700" y="395287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Distribusi kunjungan π dan hasil permainan z</a:t>
            </a:r>
          </a:p>
        </p:txBody>
      </p:sp>
      <p:sp>
        <p:nvSpPr>
          <p:cNvPr id="16" name="">
            <a:extLst xmlns:a="http://schemas.openxmlformats.org/drawingml/2006/main">
              <a:ext uri="{FF2B5EF4-FFF2-40B4-BE49-F238E27FC236}">
                <a16:creationId xmlns:a16="http://schemas.microsoft.com/office/drawing/2014/main" id="{B8A4F17F-FBD1-45F3-AD7F-79CBD3644C19}"/>
              </a:ext>
            </a:extLst>
          </p:cNvPr>
          <p:cNvSpPr>
            <a:spLocks xmlns:a="http://schemas.openxmlformats.org/drawingml/2006/main" noGrp="1"/>
          </p:cNvSpPr>
          <p:nvPr/>
        </p:nvSpPr>
        <p:spPr>
          <a:xfrm xmlns:a="http://schemas.openxmlformats.org/drawingml/2006/main">
            <a:off x="8715375" y="3943350"/>
            <a:ext cx="276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4DDC7"/>
                </a:solidFill>
                <a:latin typeface="Arial"/>
                <a:ea typeface="Arial"/>
                <a:cs typeface="Arial"/>
              </a:defRPr>
            </a:defPPr>
            <a:lvl1pPr>
              <a:defRPr sz="1800" b="1">
                <a:solidFill>
                  <a:srgbClr val="64DDC7"/>
                </a:solidFill>
                <a:latin typeface="Arial"/>
                <a:ea typeface="Arial"/>
                <a:cs typeface="Arial"/>
              </a:defRPr>
            </a:lvl1pPr>
            <a:lvl2pPr>
              <a:defRPr sz="1800" b="1">
                <a:solidFill>
                  <a:srgbClr val="64DDC7"/>
                </a:solidFill>
                <a:latin typeface="Arial"/>
                <a:ea typeface="Arial"/>
                <a:cs typeface="Arial"/>
              </a:defRPr>
            </a:lvl2pPr>
            <a:lvl3pPr>
              <a:defRPr sz="1800" b="1">
                <a:solidFill>
                  <a:srgbClr val="64DDC7"/>
                </a:solidFill>
                <a:latin typeface="Arial"/>
                <a:ea typeface="Arial"/>
                <a:cs typeface="Arial"/>
              </a:defRPr>
            </a:lvl3pPr>
            <a:lvl4pPr>
              <a:defRPr sz="1800" b="1">
                <a:solidFill>
                  <a:srgbClr val="64DDC7"/>
                </a:solidFill>
                <a:latin typeface="Arial"/>
                <a:ea typeface="Arial"/>
                <a:cs typeface="Arial"/>
              </a:defRPr>
            </a:lvl4pPr>
            <a:lvl5pPr>
              <a:defRPr sz="1800" b="1">
                <a:solidFill>
                  <a:srgbClr val="64DDC7"/>
                </a:solidFill>
                <a:latin typeface="Arial"/>
                <a:ea typeface="Arial"/>
                <a:cs typeface="Arial"/>
              </a:defRPr>
            </a:lvl5pPr>
            <a:lvl6pPr>
              <a:defRPr sz="1800" b="1">
                <a:solidFill>
                  <a:srgbClr val="64DDC7"/>
                </a:solidFill>
                <a:latin typeface="Arial"/>
                <a:ea typeface="Arial"/>
                <a:cs typeface="Arial"/>
              </a:defRPr>
            </a:lvl6pPr>
            <a:lvl7pPr>
              <a:defRPr sz="1800" b="1">
                <a:solidFill>
                  <a:srgbClr val="64DDC7"/>
                </a:solidFill>
                <a:latin typeface="Arial"/>
                <a:ea typeface="Arial"/>
                <a:cs typeface="Arial"/>
              </a:defRPr>
            </a:lvl7pPr>
            <a:lvl8pPr>
              <a:defRPr sz="1800" b="1">
                <a:solidFill>
                  <a:srgbClr val="64DDC7"/>
                </a:solidFill>
                <a:latin typeface="Arial"/>
                <a:ea typeface="Arial"/>
                <a:cs typeface="Arial"/>
              </a:defRPr>
            </a:lvl8pPr>
            <a:lvl9pPr>
              <a:defRPr sz="1800" b="1">
                <a:solidFill>
                  <a:srgbClr val="64DDC7"/>
                </a:solidFill>
                <a:latin typeface="Arial"/>
                <a:ea typeface="Arial"/>
                <a:cs typeface="Arial"/>
              </a:defRPr>
            </a:lvl9pPr>
          </a:lstStyle>
          <a:p xmlns:a="http://schemas.openxmlformats.org/drawingml/2006/main">
            <a:pPr>
              <a:defRPr sz="1800" b="1">
                <a:solidFill>
                  <a:srgbClr val="64DDC7"/>
                </a:solidFill>
                <a:latin typeface="Arial"/>
                <a:ea typeface="Arial"/>
                <a:cs typeface="Arial"/>
              </a:defRPr>
            </a:pPr>
            <a:r>
              <a:rPr sz="1800" b="1">
                <a:solidFill>
                  <a:srgbClr val="64DDC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3A3E59AE-ED92-4F20-8F4A-132493170A3B}"/>
              </a:ext>
            </a:extLst>
          </p:cNvPr>
          <p:cNvSpPr>
            <a:spLocks xmlns:a="http://schemas.openxmlformats.org/drawingml/2006/main" noGrp="1"/>
          </p:cNvSpPr>
          <p:nvPr/>
        </p:nvSpPr>
        <p:spPr>
          <a:xfrm xmlns:a="http://schemas.openxmlformats.org/drawingml/2006/main">
            <a:off x="8953500" y="3095625"/>
            <a:ext cx="2590800" cy="2190750"/>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C43CF6-A696-4906-BAF5-DEEB15F209E2}"/>
              </a:ext>
            </a:extLst>
          </p:cNvPr>
          <p:cNvSpPr>
            <a:spLocks xmlns:a="http://schemas.openxmlformats.org/drawingml/2006/main" noGrp="1"/>
          </p:cNvSpPr>
          <p:nvPr/>
        </p:nvSpPr>
        <p:spPr>
          <a:xfrm xmlns:a="http://schemas.openxmlformats.org/drawingml/2006/main">
            <a:off x="9144000" y="33432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4 · Pembaruan</a:t>
            </a:r>
          </a:p>
        </p:txBody>
      </p:sp>
      <p:sp>
        <p:nvSpPr>
          <p:cNvPr id="19" name="">
            <a:extLst xmlns:a="http://schemas.openxmlformats.org/drawingml/2006/main">
              <a:ext uri="{FF2B5EF4-FFF2-40B4-BE49-F238E27FC236}">
                <a16:creationId xmlns:a16="http://schemas.microsoft.com/office/drawing/2014/main" id="{7D9A9B6B-42FD-499E-A8DF-B95FFC98E637}"/>
              </a:ext>
            </a:extLst>
          </p:cNvPr>
          <p:cNvSpPr>
            <a:spLocks xmlns:a="http://schemas.openxmlformats.org/drawingml/2006/main" noGrp="1"/>
          </p:cNvSpPr>
          <p:nvPr/>
        </p:nvSpPr>
        <p:spPr>
          <a:xfrm xmlns:a="http://schemas.openxmlformats.org/drawingml/2006/main">
            <a:off x="9144000" y="395287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Loss nilai + policy + regularisasi</a:t>
            </a:r>
          </a:p>
        </p:txBody>
      </p:sp>
      <p:sp>
        <p:nvSpPr>
          <p:cNvPr id="20" name="">
            <a:extLst xmlns:a="http://schemas.openxmlformats.org/drawingml/2006/main">
              <a:ext uri="{FF2B5EF4-FFF2-40B4-BE49-F238E27FC236}">
                <a16:creationId xmlns:a16="http://schemas.microsoft.com/office/drawing/2014/main" id="{A0CFAFAC-6FE6-4820-A978-B08EDAAC6AC5}"/>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21" name="">
            <a:extLst xmlns:a="http://schemas.openxmlformats.org/drawingml/2006/main">
              <a:ext uri="{FF2B5EF4-FFF2-40B4-BE49-F238E27FC236}">
                <a16:creationId xmlns:a16="http://schemas.microsoft.com/office/drawing/2014/main" id="{85C9F0AB-37F6-46E3-8949-B3DF5ADF3CCB}"/>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05 / 14</a:t>
            </a:r>
          </a:p>
        </p:txBody>
      </p:sp>
    </p:spTree>
    <p:extLst>
      <p:ext uri="{BB962C8B-B14F-4D97-AF65-F5344CB8AC3E}">
        <p14:creationId xmlns:p14="http://schemas.microsoft.com/office/powerpoint/2010/main" val="48437220"/>
      </p:ext>
    </p:extLst>
  </p:cSld>
</p:sld>
</file>

<file path=ppt/slides/slide6.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6EC42C-F38F-406C-BBD8-5C066452A3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45F1C7-6DFA-4886-8E7B-699A99FFFAE2}"/>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73494FA4-6BAE-43E4-B68B-D7EB4704178A}"/>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Komputasi dan batas keunggulan</a:t>
            </a:r>
          </a:p>
        </p:txBody>
      </p:sp>
      <p:sp>
        <p:nvSpPr>
          <p:cNvPr id="4" name="">
            <a:extLst xmlns:a="http://schemas.openxmlformats.org/drawingml/2006/main">
              <a:ext uri="{FF2B5EF4-FFF2-40B4-BE49-F238E27FC236}">
                <a16:creationId xmlns:a16="http://schemas.microsoft.com/office/drawing/2014/main" id="{CE413B80-8FE3-4884-9FA7-E3319A729BF0}"/>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Konfigurasi Science 2018 berbeda dari laporan awal 2017</a:t>
            </a:r>
          </a:p>
        </p:txBody>
      </p:sp>
      <p:sp>
        <p:nvSpPr>
          <p:cNvPr id="5" name="">
            <a:extLst xmlns:a="http://schemas.openxmlformats.org/drawingml/2006/main">
              <a:ext uri="{FF2B5EF4-FFF2-40B4-BE49-F238E27FC236}">
                <a16:creationId xmlns:a16="http://schemas.microsoft.com/office/drawing/2014/main" id="{4197243F-779D-4F96-AAFC-913116A487E1}"/>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CE1ADC-52EF-421A-935C-CE42595B25D0}"/>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Pelatihan</a:t>
            </a:r>
          </a:p>
        </p:txBody>
      </p:sp>
      <p:sp>
        <p:nvSpPr>
          <p:cNvPr id="7" name="">
            <a:extLst xmlns:a="http://schemas.openxmlformats.org/drawingml/2006/main">
              <a:ext uri="{FF2B5EF4-FFF2-40B4-BE49-F238E27FC236}">
                <a16:creationId xmlns:a16="http://schemas.microsoft.com/office/drawing/2014/main" id="{066B8167-EE22-44D3-B54C-866094D80150}"/>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5.000 TPU v1 untuk self-play; 16 TPU v2 untuk jaringan</a:t>
            </a:r>
          </a:p>
        </p:txBody>
      </p:sp>
      <p:sp>
        <p:nvSpPr>
          <p:cNvPr id="8" name="">
            <a:extLst xmlns:a="http://schemas.openxmlformats.org/drawingml/2006/main">
              <a:ext uri="{FF2B5EF4-FFF2-40B4-BE49-F238E27FC236}">
                <a16:creationId xmlns:a16="http://schemas.microsoft.com/office/drawing/2014/main" id="{3C316960-ADB3-4364-B9F9-914E42AE5CA6}"/>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6ACE44-0641-4495-8F48-E512C1D7A47B}"/>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Durasi penuh</a:t>
            </a:r>
          </a:p>
        </p:txBody>
      </p:sp>
      <p:sp>
        <p:nvSpPr>
          <p:cNvPr id="10" name="">
            <a:extLst xmlns:a="http://schemas.openxmlformats.org/drawingml/2006/main">
              <a:ext uri="{FF2B5EF4-FFF2-40B4-BE49-F238E27FC236}">
                <a16:creationId xmlns:a16="http://schemas.microsoft.com/office/drawing/2014/main" id="{5104BD05-B5F1-4FCE-80BF-4821D6E42B66}"/>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Catur 9 jam · shogi 12 jam · Go 13 hari</a:t>
            </a:r>
          </a:p>
        </p:txBody>
      </p:sp>
      <p:sp>
        <p:nvSpPr>
          <p:cNvPr id="11" name="">
            <a:extLst xmlns:a="http://schemas.openxmlformats.org/drawingml/2006/main">
              <a:ext uri="{FF2B5EF4-FFF2-40B4-BE49-F238E27FC236}">
                <a16:creationId xmlns:a16="http://schemas.microsoft.com/office/drawing/2014/main" id="{72E5ED6C-F37E-4612-8717-EA8E8E834DC2}"/>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D9523B-4545-4E18-B0D6-89C796340195}"/>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Batas</a:t>
            </a:r>
          </a:p>
        </p:txBody>
      </p:sp>
      <p:sp>
        <p:nvSpPr>
          <p:cNvPr id="13" name="">
            <a:extLst xmlns:a="http://schemas.openxmlformats.org/drawingml/2006/main">
              <a:ext uri="{FF2B5EF4-FFF2-40B4-BE49-F238E27FC236}">
                <a16:creationId xmlns:a16="http://schemas.microsoft.com/office/drawing/2014/main" id="{01443718-B673-473A-8BE7-3C64B429CEC3}"/>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Simulator sempurna, tujuan eksplisit, transfer belum dibuktikan</a:t>
            </a:r>
          </a:p>
        </p:txBody>
      </p:sp>
      <p:sp>
        <p:nvSpPr>
          <p:cNvPr id="14" name="">
            <a:extLst xmlns:a="http://schemas.openxmlformats.org/drawingml/2006/main">
              <a:ext uri="{FF2B5EF4-FFF2-40B4-BE49-F238E27FC236}">
                <a16:creationId xmlns:a16="http://schemas.microsoft.com/office/drawing/2014/main" id="{11D19479-DA71-4684-860E-1ED10324D2C7}"/>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2E3DEAE4-3D26-4327-8356-18184BC98020}"/>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06 / 14</a:t>
            </a:r>
          </a:p>
        </p:txBody>
      </p:sp>
    </p:spTree>
    <p:extLst>
      <p:ext uri="{BB962C8B-B14F-4D97-AF65-F5344CB8AC3E}">
        <p14:creationId xmlns:p14="http://schemas.microsoft.com/office/powerpoint/2010/main" val="598328228"/>
      </p:ext>
    </p:extLst>
  </p:cSld>
</p:sld>
</file>

<file path=ppt/slides/slide7.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846915-C3F6-49B7-9E79-3C35316A9B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C5A738-C051-4CF3-AA38-EA0C459F410B}"/>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F36826D3-E744-4051-BE6B-377721CA001C}"/>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Desain eksperimen: 600 respons</a:t>
            </a:r>
          </a:p>
        </p:txBody>
      </p:sp>
      <p:sp>
        <p:nvSpPr>
          <p:cNvPr id="4" name="">
            <a:extLst xmlns:a="http://schemas.openxmlformats.org/drawingml/2006/main">
              <a:ext uri="{FF2B5EF4-FFF2-40B4-BE49-F238E27FC236}">
                <a16:creationId xmlns:a16="http://schemas.microsoft.com/office/drawing/2014/main" id="{4C5FAD48-35DC-4B1B-BB16-B0744B317F6E}"/>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50 skenario × 2 kondisi × 3 level × 2 model</a:t>
            </a:r>
          </a:p>
        </p:txBody>
      </p:sp>
      <p:sp>
        <p:nvSpPr>
          <p:cNvPr id="5" name="">
            <a:extLst xmlns:a="http://schemas.openxmlformats.org/drawingml/2006/main">
              <a:ext uri="{FF2B5EF4-FFF2-40B4-BE49-F238E27FC236}">
                <a16:creationId xmlns:a16="http://schemas.microsoft.com/office/drawing/2014/main" id="{D9A8C8DD-2685-47F2-B623-705A1FF14E96}"/>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F06A61-4B82-40F7-B37C-DA7431CFBBEC}"/>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50 skenario berpasangan</a:t>
            </a:r>
          </a:p>
        </p:txBody>
      </p:sp>
      <p:sp>
        <p:nvSpPr>
          <p:cNvPr id="7" name="">
            <a:extLst xmlns:a="http://schemas.openxmlformats.org/drawingml/2006/main">
              <a:ext uri="{FF2B5EF4-FFF2-40B4-BE49-F238E27FC236}">
                <a16:creationId xmlns:a16="http://schemas.microsoft.com/office/drawing/2014/main" id="{360E7DEC-A622-415B-983D-8ED6C10C6CDC}"/>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Belanja, produktivitas, perjalanan, komunikasi, rumah/jadwal</a:t>
            </a:r>
          </a:p>
        </p:txBody>
      </p:sp>
      <p:sp>
        <p:nvSpPr>
          <p:cNvPr id="8" name="">
            <a:extLst xmlns:a="http://schemas.openxmlformats.org/drawingml/2006/main">
              <a:ext uri="{FF2B5EF4-FFF2-40B4-BE49-F238E27FC236}">
                <a16:creationId xmlns:a16="http://schemas.microsoft.com/office/drawing/2014/main" id="{58F0D4B1-0598-431F-8F0A-63B16CEB157A}"/>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6236D8-F11A-4D1F-91E5-89ED348C7C2F}"/>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Dua kondisi</a:t>
            </a:r>
          </a:p>
        </p:txBody>
      </p:sp>
      <p:sp>
        <p:nvSpPr>
          <p:cNvPr id="10" name="">
            <a:extLst xmlns:a="http://schemas.openxmlformats.org/drawingml/2006/main">
              <a:ext uri="{FF2B5EF4-FFF2-40B4-BE49-F238E27FC236}">
                <a16:creationId xmlns:a16="http://schemas.microsoft.com/office/drawing/2014/main" id="{8C9FA0F1-3E81-44C8-B0D4-831DEDFBE269}"/>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Tujuan jelas vs ambigu; instruksi persetujuan identik</a:t>
            </a:r>
          </a:p>
        </p:txBody>
      </p:sp>
      <p:sp>
        <p:nvSpPr>
          <p:cNvPr id="11" name="">
            <a:extLst xmlns:a="http://schemas.openxmlformats.org/drawingml/2006/main">
              <a:ext uri="{FF2B5EF4-FFF2-40B4-BE49-F238E27FC236}">
                <a16:creationId xmlns:a16="http://schemas.microsoft.com/office/drawing/2014/main" id="{241AEE52-3750-4E5D-91B3-F5DA6BF46A65}"/>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049B1D-9030-42C0-B788-8BBD870FED46}"/>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Otonomi teks</a:t>
            </a:r>
          </a:p>
        </p:txBody>
      </p:sp>
      <p:sp>
        <p:nvSpPr>
          <p:cNvPr id="13" name="">
            <a:extLst xmlns:a="http://schemas.openxmlformats.org/drawingml/2006/main">
              <a:ext uri="{FF2B5EF4-FFF2-40B4-BE49-F238E27FC236}">
                <a16:creationId xmlns:a16="http://schemas.microsoft.com/office/drawing/2014/main" id="{DAFD383E-0784-44C6-B75C-754AF2F4CA2B}"/>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L0 informasi · L2 rencana · L4 keputusan otomatis simulatif</a:t>
            </a:r>
          </a:p>
        </p:txBody>
      </p:sp>
      <p:sp>
        <p:nvSpPr>
          <p:cNvPr id="14" name="">
            <a:extLst xmlns:a="http://schemas.openxmlformats.org/drawingml/2006/main">
              <a:ext uri="{FF2B5EF4-FFF2-40B4-BE49-F238E27FC236}">
                <a16:creationId xmlns:a16="http://schemas.microsoft.com/office/drawing/2014/main" id="{7C888321-2018-45AC-9A7E-527910DBE973}"/>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FFC0B62F-52B2-41C7-B6C1-D2D576F4BF90}"/>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07 / 14</a:t>
            </a:r>
          </a:p>
        </p:txBody>
      </p:sp>
    </p:spTree>
    <p:extLst>
      <p:ext uri="{BB962C8B-B14F-4D97-AF65-F5344CB8AC3E}">
        <p14:creationId xmlns:p14="http://schemas.microsoft.com/office/powerpoint/2010/main" val="1812955801"/>
      </p:ext>
    </p:extLst>
  </p:cSld>
</p:sld>
</file>

<file path=ppt/slides/slide8.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61572F-9AA8-43E1-A110-D07A82786D3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1BE140-5EEC-49EE-830F-B1CE6CADED4D}"/>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BCD1A290-135E-4DD9-ACB7-7079594BF5BC}"/>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Rubrik membedakan gaming dan ketidakpastian</a:t>
            </a:r>
          </a:p>
        </p:txBody>
      </p:sp>
      <p:sp>
        <p:nvSpPr>
          <p:cNvPr id="4" name="">
            <a:extLst xmlns:a="http://schemas.openxmlformats.org/drawingml/2006/main">
              <a:ext uri="{FF2B5EF4-FFF2-40B4-BE49-F238E27FC236}">
                <a16:creationId xmlns:a16="http://schemas.microsoft.com/office/drawing/2014/main" id="{3AC764DB-0F0E-4E3A-A05A-DDCEB198BBA8}"/>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Label harus memiliki bukti pada teks respons</a:t>
            </a:r>
          </a:p>
        </p:txBody>
      </p:sp>
      <p:sp>
        <p:nvSpPr>
          <p:cNvPr id="5" name="">
            <a:extLst xmlns:a="http://schemas.openxmlformats.org/drawingml/2006/main">
              <a:ext uri="{FF2B5EF4-FFF2-40B4-BE49-F238E27FC236}">
                <a16:creationId xmlns:a16="http://schemas.microsoft.com/office/drawing/2014/main" id="{1C5DD969-5842-4449-9ACC-514D3EB740B0}"/>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F45D22-AA9A-4D2B-9272-3384A8DAD774}"/>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Gaming</a:t>
            </a:r>
          </a:p>
        </p:txBody>
      </p:sp>
      <p:sp>
        <p:nvSpPr>
          <p:cNvPr id="7" name="">
            <a:extLst xmlns:a="http://schemas.openxmlformats.org/drawingml/2006/main">
              <a:ext uri="{FF2B5EF4-FFF2-40B4-BE49-F238E27FC236}">
                <a16:creationId xmlns:a16="http://schemas.microsoft.com/office/drawing/2014/main" id="{E72067B5-517A-4029-ADCF-993F56A2623B}"/>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Jalan pintas literal yang jelas mengorbankan maksud skenario</a:t>
            </a:r>
          </a:p>
        </p:txBody>
      </p:sp>
      <p:sp>
        <p:nvSpPr>
          <p:cNvPr id="8" name="">
            <a:extLst xmlns:a="http://schemas.openxmlformats.org/drawingml/2006/main">
              <a:ext uri="{FF2B5EF4-FFF2-40B4-BE49-F238E27FC236}">
                <a16:creationId xmlns:a16="http://schemas.microsoft.com/office/drawing/2014/main" id="{C3E2F896-514C-4AD0-AFDC-42C0783AA970}"/>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2413CCC-FFD4-4338-A39F-553467F0F03A}"/>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Klarifikasi</a:t>
            </a:r>
          </a:p>
        </p:txBody>
      </p:sp>
      <p:sp>
        <p:nvSpPr>
          <p:cNvPr id="10" name="">
            <a:extLst xmlns:a="http://schemas.openxmlformats.org/drawingml/2006/main">
              <a:ext uri="{FF2B5EF4-FFF2-40B4-BE49-F238E27FC236}">
                <a16:creationId xmlns:a16="http://schemas.microsoft.com/office/drawing/2014/main" id="{870CE62D-F297-4EA1-9E35-D8481A0B31AC}"/>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Meminta informasi penting sebelum memilih atau bertindak</a:t>
            </a:r>
          </a:p>
        </p:txBody>
      </p:sp>
      <p:sp>
        <p:nvSpPr>
          <p:cNvPr id="11" name="">
            <a:extLst xmlns:a="http://schemas.openxmlformats.org/drawingml/2006/main">
              <a:ext uri="{FF2B5EF4-FFF2-40B4-BE49-F238E27FC236}">
                <a16:creationId xmlns:a16="http://schemas.microsoft.com/office/drawing/2014/main" id="{936D8A17-4B7D-4FF7-9329-538B0280ED6B}"/>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2DDCA2-16BB-4EAB-B25E-37B4A503D133}"/>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Penilaian</a:t>
            </a:r>
          </a:p>
        </p:txBody>
      </p:sp>
      <p:sp>
        <p:nvSpPr>
          <p:cNvPr id="13" name="">
            <a:extLst xmlns:a="http://schemas.openxmlformats.org/drawingml/2006/main">
              <a:ext uri="{FF2B5EF4-FFF2-40B4-BE49-F238E27FC236}">
                <a16:creationId xmlns:a16="http://schemas.microsoft.com/office/drawing/2014/main" id="{F91E41DE-3315-41AA-8F7D-05E462ED75E8}"/>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Dua penilai independen, bukti teks, kappa, adjudikasi</a:t>
            </a:r>
          </a:p>
        </p:txBody>
      </p:sp>
      <p:sp>
        <p:nvSpPr>
          <p:cNvPr id="14" name="">
            <a:extLst xmlns:a="http://schemas.openxmlformats.org/drawingml/2006/main">
              <a:ext uri="{FF2B5EF4-FFF2-40B4-BE49-F238E27FC236}">
                <a16:creationId xmlns:a16="http://schemas.microsoft.com/office/drawing/2014/main" id="{D54D2367-BB2E-41C6-A84F-234F3C68679A}"/>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ED6592C2-8F3E-4DC8-9421-F4F7365C1FA5}"/>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08 / 14</a:t>
            </a:r>
          </a:p>
        </p:txBody>
      </p:sp>
    </p:spTree>
    <p:extLst>
      <p:ext uri="{BB962C8B-B14F-4D97-AF65-F5344CB8AC3E}">
        <p14:creationId xmlns:p14="http://schemas.microsoft.com/office/powerpoint/2010/main" val="1617207134"/>
      </p:ext>
    </p:extLst>
  </p:cSld>
</p:sld>
</file>

<file path=ppt/slides/slide9.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03829A-8862-4216-B284-F2049FB198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CF9FFE-5B03-4E49-B172-BE3AE02C9FC3}"/>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558289B0-93F8-49CA-B82C-A6603DE5119A}"/>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Hipotesis dan analisis berpasangan</a:t>
            </a:r>
          </a:p>
        </p:txBody>
      </p:sp>
      <p:sp>
        <p:nvSpPr>
          <p:cNvPr id="4" name="">
            <a:extLst xmlns:a="http://schemas.openxmlformats.org/drawingml/2006/main">
              <a:ext uri="{FF2B5EF4-FFF2-40B4-BE49-F238E27FC236}">
                <a16:creationId xmlns:a16="http://schemas.microsoft.com/office/drawing/2014/main" id="{7E778FBE-24D1-40AD-ABD4-A3A82952C170}"/>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16 kontras ditetapkan sebelum pengambilan data</a:t>
            </a:r>
          </a:p>
        </p:txBody>
      </p:sp>
      <p:sp>
        <p:nvSpPr>
          <p:cNvPr id="5" name="">
            <a:extLst xmlns:a="http://schemas.openxmlformats.org/drawingml/2006/main">
              <a:ext uri="{FF2B5EF4-FFF2-40B4-BE49-F238E27FC236}">
                <a16:creationId xmlns:a16="http://schemas.microsoft.com/office/drawing/2014/main" id="{1D946FDC-C781-4316-AC13-E8A0E45234D4}"/>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3B198B-99A1-4FE7-B472-E3CE884F5579}"/>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H1 · 6 kontras</a:t>
            </a:r>
          </a:p>
        </p:txBody>
      </p:sp>
      <p:sp>
        <p:nvSpPr>
          <p:cNvPr id="7" name="">
            <a:extLst xmlns:a="http://schemas.openxmlformats.org/drawingml/2006/main">
              <a:ext uri="{FF2B5EF4-FFF2-40B4-BE49-F238E27FC236}">
                <a16:creationId xmlns:a16="http://schemas.microsoft.com/office/drawing/2014/main" id="{75E1D191-B030-4DE3-8F10-F823A710085E}"/>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Gaming: ambigu − jelas, pada model dan level yang sama</a:t>
            </a:r>
          </a:p>
        </p:txBody>
      </p:sp>
      <p:sp>
        <p:nvSpPr>
          <p:cNvPr id="8" name="">
            <a:extLst xmlns:a="http://schemas.openxmlformats.org/drawingml/2006/main">
              <a:ext uri="{FF2B5EF4-FFF2-40B4-BE49-F238E27FC236}">
                <a16:creationId xmlns:a16="http://schemas.microsoft.com/office/drawing/2014/main" id="{F1393806-A915-4F91-93F3-989047828126}"/>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43E449-99A0-4F02-A572-24E2AEBC0A00}"/>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H2 · 4 kontras</a:t>
            </a:r>
          </a:p>
        </p:txBody>
      </p:sp>
      <p:sp>
        <p:nvSpPr>
          <p:cNvPr id="10" name="">
            <a:extLst xmlns:a="http://schemas.openxmlformats.org/drawingml/2006/main">
              <a:ext uri="{FF2B5EF4-FFF2-40B4-BE49-F238E27FC236}">
                <a16:creationId xmlns:a16="http://schemas.microsoft.com/office/drawing/2014/main" id="{6AD36040-C59F-49D4-BABE-CD2CFB54C60E}"/>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Unsafe: L4 − L0, pada model dan kondisi yang sama</a:t>
            </a:r>
          </a:p>
        </p:txBody>
      </p:sp>
      <p:sp>
        <p:nvSpPr>
          <p:cNvPr id="11" name="">
            <a:extLst xmlns:a="http://schemas.openxmlformats.org/drawingml/2006/main">
              <a:ext uri="{FF2B5EF4-FFF2-40B4-BE49-F238E27FC236}">
                <a16:creationId xmlns:a16="http://schemas.microsoft.com/office/drawing/2014/main" id="{8F807FFB-9D30-4047-9CA9-DC527163D73F}"/>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5FB744-B1DC-4C5D-ADF5-689B7B4ACC9F}"/>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H3 · 6 kontras</a:t>
            </a:r>
          </a:p>
        </p:txBody>
      </p:sp>
      <p:sp>
        <p:nvSpPr>
          <p:cNvPr id="13" name="">
            <a:extLst xmlns:a="http://schemas.openxmlformats.org/drawingml/2006/main">
              <a:ext uri="{FF2B5EF4-FFF2-40B4-BE49-F238E27FC236}">
                <a16:creationId xmlns:a16="http://schemas.microsoft.com/office/drawing/2014/main" id="{8A7518EE-C34E-4FCF-893D-A27BCFC5891C}"/>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Gaming: model B − A, pada kondisi dan level yang sama</a:t>
            </a:r>
          </a:p>
        </p:txBody>
      </p:sp>
      <p:sp>
        <p:nvSpPr>
          <p:cNvPr id="14" name="">
            <a:extLst xmlns:a="http://schemas.openxmlformats.org/drawingml/2006/main">
              <a:ext uri="{FF2B5EF4-FFF2-40B4-BE49-F238E27FC236}">
                <a16:creationId xmlns:a16="http://schemas.microsoft.com/office/drawing/2014/main" id="{306A47F4-3135-46A6-802B-22CDCF50B376}"/>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0C8D9F52-6DCC-4D55-B74B-2853824DDB27}"/>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09 / 14</a:t>
            </a:r>
          </a:p>
        </p:txBody>
      </p:sp>
    </p:spTree>
    <p:extLst>
      <p:ext uri="{BB962C8B-B14F-4D97-AF65-F5344CB8AC3E}">
        <p14:creationId xmlns:p14="http://schemas.microsoft.com/office/powerpoint/2010/main" val="1906716154"/>
      </p:ext>
    </p:extLst>
  </p:cSld>
</p:sld>
</file>

<file path=ppt/slides/slide10.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AF603F-D4D8-4F66-ADA9-A7935CD8DA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29B062-CB03-4D47-875C-F5102FC8FE59}"/>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8137412A-93AC-40E6-8BBF-8D2966F2957A}"/>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Hasil empiris belum tersedia</a:t>
            </a:r>
          </a:p>
        </p:txBody>
      </p:sp>
      <p:sp>
        <p:nvSpPr>
          <p:cNvPr id="4" name="">
            <a:extLst xmlns:a="http://schemas.openxmlformats.org/drawingml/2006/main">
              <a:ext uri="{FF2B5EF4-FFF2-40B4-BE49-F238E27FC236}">
                <a16:creationId xmlns:a16="http://schemas.microsoft.com/office/drawing/2014/main" id="{39998933-6183-4156-A4C4-4B49DBC7BBC9}"/>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Rencana, data sintetis, dan data API disimpan terpisah</a:t>
            </a:r>
          </a:p>
        </p:txBody>
      </p:sp>
      <p:sp>
        <p:nvSpPr>
          <p:cNvPr id="5" name="">
            <a:extLst xmlns:a="http://schemas.openxmlformats.org/drawingml/2006/main">
              <a:ext uri="{FF2B5EF4-FFF2-40B4-BE49-F238E27FC236}">
                <a16:creationId xmlns:a16="http://schemas.microsoft.com/office/drawing/2014/main" id="{656EAF98-20EC-41D5-8B11-2DFDFE3FEA57}"/>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ABE662-DB0E-44DB-A33E-C26F8350FB3D}"/>
              </a:ext>
            </a:extLst>
          </p:cNvPr>
          <p:cNvSpPr>
            <a:spLocks xmlns:a="http://schemas.openxmlformats.org/drawingml/2006/main" noGrp="1"/>
          </p:cNvSpPr>
          <p:nvPr/>
        </p:nvSpPr>
        <p:spPr>
          <a:xfrm xmlns:a="http://schemas.openxmlformats.org/drawingml/2006/main">
            <a:off x="828675" y="3333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64DDC7"/>
                </a:solidFill>
                <a:latin typeface="Arial"/>
                <a:ea typeface="Arial"/>
                <a:cs typeface="Arial"/>
              </a:defRPr>
            </a:defPPr>
            <a:lvl1pPr>
              <a:defRPr sz="4800" b="1">
                <a:solidFill>
                  <a:srgbClr val="64DDC7"/>
                </a:solidFill>
                <a:latin typeface="Arial"/>
                <a:ea typeface="Arial"/>
                <a:cs typeface="Arial"/>
              </a:defRPr>
            </a:lvl1pPr>
            <a:lvl2pPr>
              <a:defRPr sz="4800" b="1">
                <a:solidFill>
                  <a:srgbClr val="64DDC7"/>
                </a:solidFill>
                <a:latin typeface="Arial"/>
                <a:ea typeface="Arial"/>
                <a:cs typeface="Arial"/>
              </a:defRPr>
            </a:lvl2pPr>
            <a:lvl3pPr>
              <a:defRPr sz="4800" b="1">
                <a:solidFill>
                  <a:srgbClr val="64DDC7"/>
                </a:solidFill>
                <a:latin typeface="Arial"/>
                <a:ea typeface="Arial"/>
                <a:cs typeface="Arial"/>
              </a:defRPr>
            </a:lvl3pPr>
            <a:lvl4pPr>
              <a:defRPr sz="4800" b="1">
                <a:solidFill>
                  <a:srgbClr val="64DDC7"/>
                </a:solidFill>
                <a:latin typeface="Arial"/>
                <a:ea typeface="Arial"/>
                <a:cs typeface="Arial"/>
              </a:defRPr>
            </a:lvl4pPr>
            <a:lvl5pPr>
              <a:defRPr sz="4800" b="1">
                <a:solidFill>
                  <a:srgbClr val="64DDC7"/>
                </a:solidFill>
                <a:latin typeface="Arial"/>
                <a:ea typeface="Arial"/>
                <a:cs typeface="Arial"/>
              </a:defRPr>
            </a:lvl5pPr>
            <a:lvl6pPr>
              <a:defRPr sz="4800" b="1">
                <a:solidFill>
                  <a:srgbClr val="64DDC7"/>
                </a:solidFill>
                <a:latin typeface="Arial"/>
                <a:ea typeface="Arial"/>
                <a:cs typeface="Arial"/>
              </a:defRPr>
            </a:lvl6pPr>
            <a:lvl7pPr>
              <a:defRPr sz="4800" b="1">
                <a:solidFill>
                  <a:srgbClr val="64DDC7"/>
                </a:solidFill>
                <a:latin typeface="Arial"/>
                <a:ea typeface="Arial"/>
                <a:cs typeface="Arial"/>
              </a:defRPr>
            </a:lvl7pPr>
            <a:lvl8pPr>
              <a:defRPr sz="4800" b="1">
                <a:solidFill>
                  <a:srgbClr val="64DDC7"/>
                </a:solidFill>
                <a:latin typeface="Arial"/>
                <a:ea typeface="Arial"/>
                <a:cs typeface="Arial"/>
              </a:defRPr>
            </a:lvl8pPr>
            <a:lvl9pPr>
              <a:defRPr sz="4800" b="1">
                <a:solidFill>
                  <a:srgbClr val="64DDC7"/>
                </a:solidFill>
                <a:latin typeface="Arial"/>
                <a:ea typeface="Arial"/>
                <a:cs typeface="Arial"/>
              </a:defRPr>
            </a:lvl9pPr>
          </a:lstStyle>
          <a:p xmlns:a="http://schemas.openxmlformats.org/drawingml/2006/main">
            <a:pPr>
              <a:defRPr sz="4800" b="1">
                <a:solidFill>
                  <a:srgbClr val="64DDC7"/>
                </a:solidFill>
                <a:latin typeface="Arial"/>
                <a:ea typeface="Arial"/>
                <a:cs typeface="Arial"/>
              </a:defRPr>
            </a:pPr>
            <a:r>
              <a:rPr sz="4800" b="1">
                <a:solidFill>
                  <a:srgbClr val="64DDC7"/>
                </a:solidFill>
                <a:latin typeface="Arial"/>
                <a:ea typeface="Arial"/>
                <a:cs typeface="Arial"/>
              </a:rPr>
              <a:t>600</a:t>
            </a:r>
          </a:p>
        </p:txBody>
      </p:sp>
      <p:sp>
        <p:nvSpPr>
          <p:cNvPr id="7" name="">
            <a:extLst xmlns:a="http://schemas.openxmlformats.org/drawingml/2006/main">
              <a:ext uri="{FF2B5EF4-FFF2-40B4-BE49-F238E27FC236}">
                <a16:creationId xmlns:a16="http://schemas.microsoft.com/office/drawing/2014/main" id="{9099003A-F090-4F2A-B7B1-A30D4866E21D}"/>
              </a:ext>
            </a:extLst>
          </p:cNvPr>
          <p:cNvSpPr>
            <a:spLocks xmlns:a="http://schemas.openxmlformats.org/drawingml/2006/main" noGrp="1"/>
          </p:cNvSpPr>
          <p:nvPr/>
        </p:nvSpPr>
        <p:spPr>
          <a:xfrm xmlns:a="http://schemas.openxmlformats.org/drawingml/2006/main">
            <a:off x="828675" y="44005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9EFF6"/>
                </a:solidFill>
                <a:latin typeface="Arial"/>
                <a:ea typeface="Arial"/>
                <a:cs typeface="Arial"/>
              </a:defRPr>
            </a:defPPr>
            <a:lvl1pPr>
              <a:defRPr sz="1950" b="0">
                <a:solidFill>
                  <a:srgbClr val="E9EFF6"/>
                </a:solidFill>
                <a:latin typeface="Arial"/>
                <a:ea typeface="Arial"/>
                <a:cs typeface="Arial"/>
              </a:defRPr>
            </a:lvl1pPr>
            <a:lvl2pPr>
              <a:defRPr sz="1950" b="0">
                <a:solidFill>
                  <a:srgbClr val="E9EFF6"/>
                </a:solidFill>
                <a:latin typeface="Arial"/>
                <a:ea typeface="Arial"/>
                <a:cs typeface="Arial"/>
              </a:defRPr>
            </a:lvl2pPr>
            <a:lvl3pPr>
              <a:defRPr sz="1950" b="0">
                <a:solidFill>
                  <a:srgbClr val="E9EFF6"/>
                </a:solidFill>
                <a:latin typeface="Arial"/>
                <a:ea typeface="Arial"/>
                <a:cs typeface="Arial"/>
              </a:defRPr>
            </a:lvl3pPr>
            <a:lvl4pPr>
              <a:defRPr sz="1950" b="0">
                <a:solidFill>
                  <a:srgbClr val="E9EFF6"/>
                </a:solidFill>
                <a:latin typeface="Arial"/>
                <a:ea typeface="Arial"/>
                <a:cs typeface="Arial"/>
              </a:defRPr>
            </a:lvl4pPr>
            <a:lvl5pPr>
              <a:defRPr sz="1950" b="0">
                <a:solidFill>
                  <a:srgbClr val="E9EFF6"/>
                </a:solidFill>
                <a:latin typeface="Arial"/>
                <a:ea typeface="Arial"/>
                <a:cs typeface="Arial"/>
              </a:defRPr>
            </a:lvl5pPr>
            <a:lvl6pPr>
              <a:defRPr sz="1950" b="0">
                <a:solidFill>
                  <a:srgbClr val="E9EFF6"/>
                </a:solidFill>
                <a:latin typeface="Arial"/>
                <a:ea typeface="Arial"/>
                <a:cs typeface="Arial"/>
              </a:defRPr>
            </a:lvl6pPr>
            <a:lvl7pPr>
              <a:defRPr sz="1950" b="0">
                <a:solidFill>
                  <a:srgbClr val="E9EFF6"/>
                </a:solidFill>
                <a:latin typeface="Arial"/>
                <a:ea typeface="Arial"/>
                <a:cs typeface="Arial"/>
              </a:defRPr>
            </a:lvl7pPr>
            <a:lvl8pPr>
              <a:defRPr sz="1950" b="0">
                <a:solidFill>
                  <a:srgbClr val="E9EFF6"/>
                </a:solidFill>
                <a:latin typeface="Arial"/>
                <a:ea typeface="Arial"/>
                <a:cs typeface="Arial"/>
              </a:defRPr>
            </a:lvl8pPr>
            <a:lvl9pPr>
              <a:defRPr sz="1950" b="0">
                <a:solidFill>
                  <a:srgbClr val="E9EFF6"/>
                </a:solidFill>
                <a:latin typeface="Arial"/>
                <a:ea typeface="Arial"/>
                <a:cs typeface="Arial"/>
              </a:defRPr>
            </a:lvl9pPr>
          </a:lstStyle>
          <a:p xmlns:a="http://schemas.openxmlformats.org/drawingml/2006/main">
            <a:pPr>
              <a:defRPr sz="1950" b="0">
                <a:solidFill>
                  <a:srgbClr val="E9EFF6"/>
                </a:solidFill>
                <a:latin typeface="Arial"/>
                <a:ea typeface="Arial"/>
                <a:cs typeface="Arial"/>
              </a:defRPr>
            </a:pPr>
            <a:r>
              <a:rPr sz="1950" b="0">
                <a:solidFill>
                  <a:srgbClr val="E9EFF6"/>
                </a:solidFill>
                <a:latin typeface="Arial"/>
                <a:ea typeface="Arial"/>
                <a:cs typeface="Arial"/>
              </a:rPr>
              <a:t>Pekerjaan terencana</a:t>
            </a:r>
          </a:p>
        </p:txBody>
      </p:sp>
      <p:sp>
        <p:nvSpPr>
          <p:cNvPr id="8" name="">
            <a:extLst xmlns:a="http://schemas.openxmlformats.org/drawingml/2006/main">
              <a:ext uri="{FF2B5EF4-FFF2-40B4-BE49-F238E27FC236}">
                <a16:creationId xmlns:a16="http://schemas.microsoft.com/office/drawing/2014/main" id="{5BE39054-07E9-485D-A48C-9E829488C271}"/>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3C293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456A2F2-B1D4-4293-A2F7-45A488736246}"/>
              </a:ext>
            </a:extLst>
          </p:cNvPr>
          <p:cNvSpPr>
            <a:spLocks xmlns:a="http://schemas.openxmlformats.org/drawingml/2006/main" noGrp="1"/>
          </p:cNvSpPr>
          <p:nvPr/>
        </p:nvSpPr>
        <p:spPr>
          <a:xfrm xmlns:a="http://schemas.openxmlformats.org/drawingml/2006/main">
            <a:off x="4543425" y="3333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C6AE"/>
                </a:solidFill>
                <a:latin typeface="Arial"/>
                <a:ea typeface="Arial"/>
                <a:cs typeface="Arial"/>
              </a:defRPr>
            </a:defPPr>
            <a:lvl1pPr>
              <a:defRPr sz="4800" b="1">
                <a:solidFill>
                  <a:srgbClr val="FFC6AE"/>
                </a:solidFill>
                <a:latin typeface="Arial"/>
                <a:ea typeface="Arial"/>
                <a:cs typeface="Arial"/>
              </a:defRPr>
            </a:lvl1pPr>
            <a:lvl2pPr>
              <a:defRPr sz="4800" b="1">
                <a:solidFill>
                  <a:srgbClr val="FFC6AE"/>
                </a:solidFill>
                <a:latin typeface="Arial"/>
                <a:ea typeface="Arial"/>
                <a:cs typeface="Arial"/>
              </a:defRPr>
            </a:lvl2pPr>
            <a:lvl3pPr>
              <a:defRPr sz="4800" b="1">
                <a:solidFill>
                  <a:srgbClr val="FFC6AE"/>
                </a:solidFill>
                <a:latin typeface="Arial"/>
                <a:ea typeface="Arial"/>
                <a:cs typeface="Arial"/>
              </a:defRPr>
            </a:lvl3pPr>
            <a:lvl4pPr>
              <a:defRPr sz="4800" b="1">
                <a:solidFill>
                  <a:srgbClr val="FFC6AE"/>
                </a:solidFill>
                <a:latin typeface="Arial"/>
                <a:ea typeface="Arial"/>
                <a:cs typeface="Arial"/>
              </a:defRPr>
            </a:lvl4pPr>
            <a:lvl5pPr>
              <a:defRPr sz="4800" b="1">
                <a:solidFill>
                  <a:srgbClr val="FFC6AE"/>
                </a:solidFill>
                <a:latin typeface="Arial"/>
                <a:ea typeface="Arial"/>
                <a:cs typeface="Arial"/>
              </a:defRPr>
            </a:lvl5pPr>
            <a:lvl6pPr>
              <a:defRPr sz="4800" b="1">
                <a:solidFill>
                  <a:srgbClr val="FFC6AE"/>
                </a:solidFill>
                <a:latin typeface="Arial"/>
                <a:ea typeface="Arial"/>
                <a:cs typeface="Arial"/>
              </a:defRPr>
            </a:lvl6pPr>
            <a:lvl7pPr>
              <a:defRPr sz="4800" b="1">
                <a:solidFill>
                  <a:srgbClr val="FFC6AE"/>
                </a:solidFill>
                <a:latin typeface="Arial"/>
                <a:ea typeface="Arial"/>
                <a:cs typeface="Arial"/>
              </a:defRPr>
            </a:lvl7pPr>
            <a:lvl8pPr>
              <a:defRPr sz="4800" b="1">
                <a:solidFill>
                  <a:srgbClr val="FFC6AE"/>
                </a:solidFill>
                <a:latin typeface="Arial"/>
                <a:ea typeface="Arial"/>
                <a:cs typeface="Arial"/>
              </a:defRPr>
            </a:lvl8pPr>
            <a:lvl9pPr>
              <a:defRPr sz="4800" b="1">
                <a:solidFill>
                  <a:srgbClr val="FFC6AE"/>
                </a:solidFill>
                <a:latin typeface="Arial"/>
                <a:ea typeface="Arial"/>
                <a:cs typeface="Arial"/>
              </a:defRPr>
            </a:lvl9pPr>
          </a:lstStyle>
          <a:p xmlns:a="http://schemas.openxmlformats.org/drawingml/2006/main">
            <a:pPr>
              <a:defRPr sz="4800" b="1">
                <a:solidFill>
                  <a:srgbClr val="FFC6AE"/>
                </a:solidFill>
                <a:latin typeface="Arial"/>
                <a:ea typeface="Arial"/>
                <a:cs typeface="Arial"/>
              </a:defRPr>
            </a:pPr>
            <a:r>
              <a:rPr sz="4800" b="1">
                <a:solidFill>
                  <a:srgbClr val="FFC6AE"/>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3C40879E-1511-4738-AE75-C11D9A6AE569}"/>
              </a:ext>
            </a:extLst>
          </p:cNvPr>
          <p:cNvSpPr>
            <a:spLocks xmlns:a="http://schemas.openxmlformats.org/drawingml/2006/main" noGrp="1"/>
          </p:cNvSpPr>
          <p:nvPr/>
        </p:nvSpPr>
        <p:spPr>
          <a:xfrm xmlns:a="http://schemas.openxmlformats.org/drawingml/2006/main">
            <a:off x="4543425" y="44005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9EFF6"/>
                </a:solidFill>
                <a:latin typeface="Arial"/>
                <a:ea typeface="Arial"/>
                <a:cs typeface="Arial"/>
              </a:defRPr>
            </a:defPPr>
            <a:lvl1pPr>
              <a:defRPr sz="1950" b="0">
                <a:solidFill>
                  <a:srgbClr val="E9EFF6"/>
                </a:solidFill>
                <a:latin typeface="Arial"/>
                <a:ea typeface="Arial"/>
                <a:cs typeface="Arial"/>
              </a:defRPr>
            </a:lvl1pPr>
            <a:lvl2pPr>
              <a:defRPr sz="1950" b="0">
                <a:solidFill>
                  <a:srgbClr val="E9EFF6"/>
                </a:solidFill>
                <a:latin typeface="Arial"/>
                <a:ea typeface="Arial"/>
                <a:cs typeface="Arial"/>
              </a:defRPr>
            </a:lvl2pPr>
            <a:lvl3pPr>
              <a:defRPr sz="1950" b="0">
                <a:solidFill>
                  <a:srgbClr val="E9EFF6"/>
                </a:solidFill>
                <a:latin typeface="Arial"/>
                <a:ea typeface="Arial"/>
                <a:cs typeface="Arial"/>
              </a:defRPr>
            </a:lvl3pPr>
            <a:lvl4pPr>
              <a:defRPr sz="1950" b="0">
                <a:solidFill>
                  <a:srgbClr val="E9EFF6"/>
                </a:solidFill>
                <a:latin typeface="Arial"/>
                <a:ea typeface="Arial"/>
                <a:cs typeface="Arial"/>
              </a:defRPr>
            </a:lvl4pPr>
            <a:lvl5pPr>
              <a:defRPr sz="1950" b="0">
                <a:solidFill>
                  <a:srgbClr val="E9EFF6"/>
                </a:solidFill>
                <a:latin typeface="Arial"/>
                <a:ea typeface="Arial"/>
                <a:cs typeface="Arial"/>
              </a:defRPr>
            </a:lvl5pPr>
            <a:lvl6pPr>
              <a:defRPr sz="1950" b="0">
                <a:solidFill>
                  <a:srgbClr val="E9EFF6"/>
                </a:solidFill>
                <a:latin typeface="Arial"/>
                <a:ea typeface="Arial"/>
                <a:cs typeface="Arial"/>
              </a:defRPr>
            </a:lvl6pPr>
            <a:lvl7pPr>
              <a:defRPr sz="1950" b="0">
                <a:solidFill>
                  <a:srgbClr val="E9EFF6"/>
                </a:solidFill>
                <a:latin typeface="Arial"/>
                <a:ea typeface="Arial"/>
                <a:cs typeface="Arial"/>
              </a:defRPr>
            </a:lvl7pPr>
            <a:lvl8pPr>
              <a:defRPr sz="1950" b="0">
                <a:solidFill>
                  <a:srgbClr val="E9EFF6"/>
                </a:solidFill>
                <a:latin typeface="Arial"/>
                <a:ea typeface="Arial"/>
                <a:cs typeface="Arial"/>
              </a:defRPr>
            </a:lvl8pPr>
            <a:lvl9pPr>
              <a:defRPr sz="1950" b="0">
                <a:solidFill>
                  <a:srgbClr val="E9EFF6"/>
                </a:solidFill>
                <a:latin typeface="Arial"/>
                <a:ea typeface="Arial"/>
                <a:cs typeface="Arial"/>
              </a:defRPr>
            </a:lvl9pPr>
          </a:lstStyle>
          <a:p xmlns:a="http://schemas.openxmlformats.org/drawingml/2006/main">
            <a:pPr>
              <a:defRPr sz="1950" b="0">
                <a:solidFill>
                  <a:srgbClr val="E9EFF6"/>
                </a:solidFill>
                <a:latin typeface="Arial"/>
                <a:ea typeface="Arial"/>
                <a:cs typeface="Arial"/>
              </a:defRPr>
            </a:pPr>
            <a:r>
              <a:rPr sz="1950" b="0">
                <a:solidFill>
                  <a:srgbClr val="E9EFF6"/>
                </a:solidFill>
                <a:latin typeface="Arial"/>
                <a:ea typeface="Arial"/>
                <a:cs typeface="Arial"/>
              </a:rPr>
              <a:t>Panggilan API resmi</a:t>
            </a:r>
          </a:p>
        </p:txBody>
      </p:sp>
      <p:sp>
        <p:nvSpPr>
          <p:cNvPr id="11" name="">
            <a:extLst xmlns:a="http://schemas.openxmlformats.org/drawingml/2006/main">
              <a:ext uri="{FF2B5EF4-FFF2-40B4-BE49-F238E27FC236}">
                <a16:creationId xmlns:a16="http://schemas.microsoft.com/office/drawing/2014/main" id="{EC846907-E4B0-487A-BEA1-46943D7AEFCA}"/>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3C29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981BCD-2FEA-414E-96EF-74F1BC759225}"/>
              </a:ext>
            </a:extLst>
          </p:cNvPr>
          <p:cNvSpPr>
            <a:spLocks xmlns:a="http://schemas.openxmlformats.org/drawingml/2006/main" noGrp="1"/>
          </p:cNvSpPr>
          <p:nvPr/>
        </p:nvSpPr>
        <p:spPr>
          <a:xfrm xmlns:a="http://schemas.openxmlformats.org/drawingml/2006/main">
            <a:off x="8258175" y="3333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C6AE"/>
                </a:solidFill>
                <a:latin typeface="Arial"/>
                <a:ea typeface="Arial"/>
                <a:cs typeface="Arial"/>
              </a:defRPr>
            </a:defPPr>
            <a:lvl1pPr>
              <a:defRPr sz="4800" b="1">
                <a:solidFill>
                  <a:srgbClr val="FFC6AE"/>
                </a:solidFill>
                <a:latin typeface="Arial"/>
                <a:ea typeface="Arial"/>
                <a:cs typeface="Arial"/>
              </a:defRPr>
            </a:lvl1pPr>
            <a:lvl2pPr>
              <a:defRPr sz="4800" b="1">
                <a:solidFill>
                  <a:srgbClr val="FFC6AE"/>
                </a:solidFill>
                <a:latin typeface="Arial"/>
                <a:ea typeface="Arial"/>
                <a:cs typeface="Arial"/>
              </a:defRPr>
            </a:lvl2pPr>
            <a:lvl3pPr>
              <a:defRPr sz="4800" b="1">
                <a:solidFill>
                  <a:srgbClr val="FFC6AE"/>
                </a:solidFill>
                <a:latin typeface="Arial"/>
                <a:ea typeface="Arial"/>
                <a:cs typeface="Arial"/>
              </a:defRPr>
            </a:lvl3pPr>
            <a:lvl4pPr>
              <a:defRPr sz="4800" b="1">
                <a:solidFill>
                  <a:srgbClr val="FFC6AE"/>
                </a:solidFill>
                <a:latin typeface="Arial"/>
                <a:ea typeface="Arial"/>
                <a:cs typeface="Arial"/>
              </a:defRPr>
            </a:lvl4pPr>
            <a:lvl5pPr>
              <a:defRPr sz="4800" b="1">
                <a:solidFill>
                  <a:srgbClr val="FFC6AE"/>
                </a:solidFill>
                <a:latin typeface="Arial"/>
                <a:ea typeface="Arial"/>
                <a:cs typeface="Arial"/>
              </a:defRPr>
            </a:lvl5pPr>
            <a:lvl6pPr>
              <a:defRPr sz="4800" b="1">
                <a:solidFill>
                  <a:srgbClr val="FFC6AE"/>
                </a:solidFill>
                <a:latin typeface="Arial"/>
                <a:ea typeface="Arial"/>
                <a:cs typeface="Arial"/>
              </a:defRPr>
            </a:lvl6pPr>
            <a:lvl7pPr>
              <a:defRPr sz="4800" b="1">
                <a:solidFill>
                  <a:srgbClr val="FFC6AE"/>
                </a:solidFill>
                <a:latin typeface="Arial"/>
                <a:ea typeface="Arial"/>
                <a:cs typeface="Arial"/>
              </a:defRPr>
            </a:lvl7pPr>
            <a:lvl8pPr>
              <a:defRPr sz="4800" b="1">
                <a:solidFill>
                  <a:srgbClr val="FFC6AE"/>
                </a:solidFill>
                <a:latin typeface="Arial"/>
                <a:ea typeface="Arial"/>
                <a:cs typeface="Arial"/>
              </a:defRPr>
            </a:lvl8pPr>
            <a:lvl9pPr>
              <a:defRPr sz="4800" b="1">
                <a:solidFill>
                  <a:srgbClr val="FFC6AE"/>
                </a:solidFill>
                <a:latin typeface="Arial"/>
                <a:ea typeface="Arial"/>
                <a:cs typeface="Arial"/>
              </a:defRPr>
            </a:lvl9pPr>
          </a:lstStyle>
          <a:p xmlns:a="http://schemas.openxmlformats.org/drawingml/2006/main">
            <a:pPr>
              <a:defRPr sz="4800" b="1">
                <a:solidFill>
                  <a:srgbClr val="FFC6AE"/>
                </a:solidFill>
                <a:latin typeface="Arial"/>
                <a:ea typeface="Arial"/>
                <a:cs typeface="Arial"/>
              </a:defRPr>
            </a:pPr>
            <a:r>
              <a:rPr sz="4800" b="1">
                <a:solidFill>
                  <a:srgbClr val="FFC6AE"/>
                </a:solidFill>
                <a:latin typeface="Arial"/>
                <a:ea typeface="Arial"/>
                <a:cs typeface="Arial"/>
              </a:rPr>
              <a:t>0</a:t>
            </a:r>
          </a:p>
        </p:txBody>
      </p:sp>
      <p:sp>
        <p:nvSpPr>
          <p:cNvPr id="13" name="">
            <a:extLst xmlns:a="http://schemas.openxmlformats.org/drawingml/2006/main">
              <a:ext uri="{FF2B5EF4-FFF2-40B4-BE49-F238E27FC236}">
                <a16:creationId xmlns:a16="http://schemas.microsoft.com/office/drawing/2014/main" id="{68AE2FC0-0DB4-41B7-912C-10EE335A99A8}"/>
              </a:ext>
            </a:extLst>
          </p:cNvPr>
          <p:cNvSpPr>
            <a:spLocks xmlns:a="http://schemas.openxmlformats.org/drawingml/2006/main" noGrp="1"/>
          </p:cNvSpPr>
          <p:nvPr/>
        </p:nvSpPr>
        <p:spPr>
          <a:xfrm xmlns:a="http://schemas.openxmlformats.org/drawingml/2006/main">
            <a:off x="8258175" y="44005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9EFF6"/>
                </a:solidFill>
                <a:latin typeface="Arial"/>
                <a:ea typeface="Arial"/>
                <a:cs typeface="Arial"/>
              </a:defRPr>
            </a:defPPr>
            <a:lvl1pPr>
              <a:defRPr sz="1950" b="0">
                <a:solidFill>
                  <a:srgbClr val="E9EFF6"/>
                </a:solidFill>
                <a:latin typeface="Arial"/>
                <a:ea typeface="Arial"/>
                <a:cs typeface="Arial"/>
              </a:defRPr>
            </a:lvl1pPr>
            <a:lvl2pPr>
              <a:defRPr sz="1950" b="0">
                <a:solidFill>
                  <a:srgbClr val="E9EFF6"/>
                </a:solidFill>
                <a:latin typeface="Arial"/>
                <a:ea typeface="Arial"/>
                <a:cs typeface="Arial"/>
              </a:defRPr>
            </a:lvl2pPr>
            <a:lvl3pPr>
              <a:defRPr sz="1950" b="0">
                <a:solidFill>
                  <a:srgbClr val="E9EFF6"/>
                </a:solidFill>
                <a:latin typeface="Arial"/>
                <a:ea typeface="Arial"/>
                <a:cs typeface="Arial"/>
              </a:defRPr>
            </a:lvl3pPr>
            <a:lvl4pPr>
              <a:defRPr sz="1950" b="0">
                <a:solidFill>
                  <a:srgbClr val="E9EFF6"/>
                </a:solidFill>
                <a:latin typeface="Arial"/>
                <a:ea typeface="Arial"/>
                <a:cs typeface="Arial"/>
              </a:defRPr>
            </a:lvl4pPr>
            <a:lvl5pPr>
              <a:defRPr sz="1950" b="0">
                <a:solidFill>
                  <a:srgbClr val="E9EFF6"/>
                </a:solidFill>
                <a:latin typeface="Arial"/>
                <a:ea typeface="Arial"/>
                <a:cs typeface="Arial"/>
              </a:defRPr>
            </a:lvl5pPr>
            <a:lvl6pPr>
              <a:defRPr sz="1950" b="0">
                <a:solidFill>
                  <a:srgbClr val="E9EFF6"/>
                </a:solidFill>
                <a:latin typeface="Arial"/>
                <a:ea typeface="Arial"/>
                <a:cs typeface="Arial"/>
              </a:defRPr>
            </a:lvl6pPr>
            <a:lvl7pPr>
              <a:defRPr sz="1950" b="0">
                <a:solidFill>
                  <a:srgbClr val="E9EFF6"/>
                </a:solidFill>
                <a:latin typeface="Arial"/>
                <a:ea typeface="Arial"/>
                <a:cs typeface="Arial"/>
              </a:defRPr>
            </a:lvl7pPr>
            <a:lvl8pPr>
              <a:defRPr sz="1950" b="0">
                <a:solidFill>
                  <a:srgbClr val="E9EFF6"/>
                </a:solidFill>
                <a:latin typeface="Arial"/>
                <a:ea typeface="Arial"/>
                <a:cs typeface="Arial"/>
              </a:defRPr>
            </a:lvl8pPr>
            <a:lvl9pPr>
              <a:defRPr sz="1950" b="0">
                <a:solidFill>
                  <a:srgbClr val="E9EFF6"/>
                </a:solidFill>
                <a:latin typeface="Arial"/>
                <a:ea typeface="Arial"/>
                <a:cs typeface="Arial"/>
              </a:defRPr>
            </a:lvl9pPr>
          </a:lstStyle>
          <a:p xmlns:a="http://schemas.openxmlformats.org/drawingml/2006/main">
            <a:pPr>
              <a:defRPr sz="1950" b="0">
                <a:solidFill>
                  <a:srgbClr val="E9EFF6"/>
                </a:solidFill>
                <a:latin typeface="Arial"/>
                <a:ea typeface="Arial"/>
                <a:cs typeface="Arial"/>
              </a:defRPr>
            </a:pPr>
            <a:r>
              <a:rPr sz="1950" b="0">
                <a:solidFill>
                  <a:srgbClr val="E9EFF6"/>
                </a:solidFill>
                <a:latin typeface="Arial"/>
                <a:ea typeface="Arial"/>
                <a:cs typeface="Arial"/>
              </a:rPr>
              <a:t>Respons dinilai</a:t>
            </a:r>
          </a:p>
        </p:txBody>
      </p:sp>
      <p:sp>
        <p:nvSpPr>
          <p:cNvPr id="14" name="">
            <a:extLst xmlns:a="http://schemas.openxmlformats.org/drawingml/2006/main">
              <a:ext uri="{FF2B5EF4-FFF2-40B4-BE49-F238E27FC236}">
                <a16:creationId xmlns:a16="http://schemas.microsoft.com/office/drawing/2014/main" id="{E1B6CE8A-4FE1-4869-977A-3079170A1E02}"/>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FFC6AE"/>
                </a:solidFill>
                <a:latin typeface="Arial"/>
                <a:ea typeface="Arial"/>
                <a:cs typeface="Arial"/>
              </a:defRPr>
            </a:defPPr>
            <a:lvl1pPr>
              <a:defRPr sz="1050" b="0">
                <a:solidFill>
                  <a:srgbClr val="FFC6AE"/>
                </a:solidFill>
                <a:latin typeface="Arial"/>
                <a:ea typeface="Arial"/>
                <a:cs typeface="Arial"/>
              </a:defRPr>
            </a:lvl1pPr>
            <a:lvl2pPr>
              <a:defRPr sz="1050" b="0">
                <a:solidFill>
                  <a:srgbClr val="FFC6AE"/>
                </a:solidFill>
                <a:latin typeface="Arial"/>
                <a:ea typeface="Arial"/>
                <a:cs typeface="Arial"/>
              </a:defRPr>
            </a:lvl2pPr>
            <a:lvl3pPr>
              <a:defRPr sz="1050" b="0">
                <a:solidFill>
                  <a:srgbClr val="FFC6AE"/>
                </a:solidFill>
                <a:latin typeface="Arial"/>
                <a:ea typeface="Arial"/>
                <a:cs typeface="Arial"/>
              </a:defRPr>
            </a:lvl3pPr>
            <a:lvl4pPr>
              <a:defRPr sz="1050" b="0">
                <a:solidFill>
                  <a:srgbClr val="FFC6AE"/>
                </a:solidFill>
                <a:latin typeface="Arial"/>
                <a:ea typeface="Arial"/>
                <a:cs typeface="Arial"/>
              </a:defRPr>
            </a:lvl4pPr>
            <a:lvl5pPr>
              <a:defRPr sz="1050" b="0">
                <a:solidFill>
                  <a:srgbClr val="FFC6AE"/>
                </a:solidFill>
                <a:latin typeface="Arial"/>
                <a:ea typeface="Arial"/>
                <a:cs typeface="Arial"/>
              </a:defRPr>
            </a:lvl5pPr>
            <a:lvl6pPr>
              <a:defRPr sz="1050" b="0">
                <a:solidFill>
                  <a:srgbClr val="FFC6AE"/>
                </a:solidFill>
                <a:latin typeface="Arial"/>
                <a:ea typeface="Arial"/>
                <a:cs typeface="Arial"/>
              </a:defRPr>
            </a:lvl6pPr>
            <a:lvl7pPr>
              <a:defRPr sz="1050" b="0">
                <a:solidFill>
                  <a:srgbClr val="FFC6AE"/>
                </a:solidFill>
                <a:latin typeface="Arial"/>
                <a:ea typeface="Arial"/>
                <a:cs typeface="Arial"/>
              </a:defRPr>
            </a:lvl7pPr>
            <a:lvl8pPr>
              <a:defRPr sz="1050" b="0">
                <a:solidFill>
                  <a:srgbClr val="FFC6AE"/>
                </a:solidFill>
                <a:latin typeface="Arial"/>
                <a:ea typeface="Arial"/>
                <a:cs typeface="Arial"/>
              </a:defRPr>
            </a:lvl8pPr>
            <a:lvl9pPr>
              <a:defRPr sz="1050" b="0">
                <a:solidFill>
                  <a:srgbClr val="FFC6AE"/>
                </a:solidFill>
                <a:latin typeface="Arial"/>
                <a:ea typeface="Arial"/>
                <a:cs typeface="Arial"/>
              </a:defRPr>
            </a:lvl9pPr>
          </a:lstStyle>
          <a:p xmlns:a="http://schemas.openxmlformats.org/drawingml/2006/main">
            <a:pPr>
              <a:defRPr sz="1050" b="0">
                <a:solidFill>
                  <a:srgbClr val="FFC6AE"/>
                </a:solidFill>
                <a:latin typeface="Arial"/>
                <a:ea typeface="Arial"/>
                <a:cs typeface="Arial"/>
              </a:defRPr>
            </a:pPr>
            <a:r>
              <a:rPr sz="1050" b="0">
                <a:solidFill>
                  <a:srgbClr val="FFC6AE"/>
                </a:solidFill>
                <a:latin typeface="Arial"/>
                <a:ea typeface="Arial"/>
                <a:cs typeface="Arial"/>
              </a:rPr>
              <a:t>BELUM ADA HASIL EMPIRIS · DATA DEMO BUKAN BUKTI</a:t>
            </a:r>
          </a:p>
        </p:txBody>
      </p:sp>
      <p:sp>
        <p:nvSpPr>
          <p:cNvPr id="15" name="">
            <a:extLst xmlns:a="http://schemas.openxmlformats.org/drawingml/2006/main">
              <a:ext uri="{FF2B5EF4-FFF2-40B4-BE49-F238E27FC236}">
                <a16:creationId xmlns:a16="http://schemas.microsoft.com/office/drawing/2014/main" id="{76473E87-9D64-4180-9569-6AE63A045C4C}"/>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10 / 14</a:t>
            </a:r>
          </a:p>
        </p:txBody>
      </p:sp>
    </p:spTree>
    <p:extLst>
      <p:ext uri="{BB962C8B-B14F-4D97-AF65-F5344CB8AC3E}">
        <p14:creationId xmlns:p14="http://schemas.microsoft.com/office/powerpoint/2010/main" val="451175958"/>
      </p:ext>
    </p:extLst>
  </p:cSld>
</p:sld>
</file>

<file path=ppt/slides/slide11.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2D8873-0218-4C04-8B70-3E94D9DFD0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5AA63B-C096-4086-8048-B20650F0894A}"/>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ED1D0B2E-029A-4713-87B1-131774C6BA0C}"/>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Aplikasi eksperimen lokal</a:t>
            </a:r>
          </a:p>
        </p:txBody>
      </p:sp>
      <p:sp>
        <p:nvSpPr>
          <p:cNvPr id="4" name="">
            <a:extLst xmlns:a="http://schemas.openxmlformats.org/drawingml/2006/main">
              <a:ext uri="{FF2B5EF4-FFF2-40B4-BE49-F238E27FC236}">
                <a16:creationId xmlns:a16="http://schemas.microsoft.com/office/drawing/2014/main" id="{12877947-5156-49E0-B020-873DFA511472}"/>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Tanpa Streamlit · dashboard, audit, dan ekspor</a:t>
            </a:r>
          </a:p>
        </p:txBody>
      </p:sp>
      <p:sp>
        <p:nvSpPr>
          <p:cNvPr id="5" name="">
            <a:extLst xmlns:a="http://schemas.openxmlformats.org/drawingml/2006/main">
              <a:ext uri="{FF2B5EF4-FFF2-40B4-BE49-F238E27FC236}">
                <a16:creationId xmlns:a16="http://schemas.microsoft.com/office/drawing/2014/main" id="{CA86036F-089E-415A-9B7A-948B7A61C016}"/>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5D9BF6-5EFD-426E-8A02-A82554820BD7}"/>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Browser lokal</a:t>
            </a:r>
          </a:p>
        </p:txBody>
      </p:sp>
      <p:sp>
        <p:nvSpPr>
          <p:cNvPr id="7" name="">
            <a:extLst xmlns:a="http://schemas.openxmlformats.org/drawingml/2006/main">
              <a:ext uri="{FF2B5EF4-FFF2-40B4-BE49-F238E27FC236}">
                <a16:creationId xmlns:a16="http://schemas.microsoft.com/office/drawing/2014/main" id="{D00187C2-D081-49D9-9AFF-E73C9A9A71B3}"/>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Buka index.html; filter, grafik, penilaian, CSV/JSON</a:t>
            </a:r>
          </a:p>
        </p:txBody>
      </p:sp>
      <p:sp>
        <p:nvSpPr>
          <p:cNvPr id="8" name="">
            <a:extLst xmlns:a="http://schemas.openxmlformats.org/drawingml/2006/main">
              <a:ext uri="{FF2B5EF4-FFF2-40B4-BE49-F238E27FC236}">
                <a16:creationId xmlns:a16="http://schemas.microsoft.com/office/drawing/2014/main" id="{411B14DC-A26D-486C-9C97-04F08FFD6A9F}"/>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80569E-5580-4FC6-917E-A99084375FF2}"/>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Runner terpisah</a:t>
            </a:r>
          </a:p>
        </p:txBody>
      </p:sp>
      <p:sp>
        <p:nvSpPr>
          <p:cNvPr id="10" name="">
            <a:extLst xmlns:a="http://schemas.openxmlformats.org/drawingml/2006/main">
              <a:ext uri="{FF2B5EF4-FFF2-40B4-BE49-F238E27FC236}">
                <a16:creationId xmlns:a16="http://schemas.microsoft.com/office/drawing/2014/main" id="{226E77E7-EDAA-4505-AE68-2D5A5970EF1C}"/>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API resmi, key di environment, checkpoint dan resume</a:t>
            </a:r>
          </a:p>
        </p:txBody>
      </p:sp>
      <p:sp>
        <p:nvSpPr>
          <p:cNvPr id="11" name="">
            <a:extLst xmlns:a="http://schemas.openxmlformats.org/drawingml/2006/main">
              <a:ext uri="{FF2B5EF4-FFF2-40B4-BE49-F238E27FC236}">
                <a16:creationId xmlns:a16="http://schemas.microsoft.com/office/drawing/2014/main" id="{104AB52A-DE77-4B46-82EA-99ACC6009A0F}"/>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697A7A-63ED-4313-9EDB-C2BC3A017C17}"/>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Analisis reprodusibel</a:t>
            </a:r>
          </a:p>
        </p:txBody>
      </p:sp>
      <p:sp>
        <p:nvSpPr>
          <p:cNvPr id="13" name="">
            <a:extLst xmlns:a="http://schemas.openxmlformats.org/drawingml/2006/main">
              <a:ext uri="{FF2B5EF4-FFF2-40B4-BE49-F238E27FC236}">
                <a16:creationId xmlns:a16="http://schemas.microsoft.com/office/drawing/2014/main" id="{485A336C-7ED8-4BC9-9C72-CA6F815E440E}"/>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Python standar; demo ditolak dari analisis empiris</a:t>
            </a:r>
          </a:p>
        </p:txBody>
      </p:sp>
      <p:sp>
        <p:nvSpPr>
          <p:cNvPr id="14" name="">
            <a:extLst xmlns:a="http://schemas.openxmlformats.org/drawingml/2006/main">
              <a:ext uri="{FF2B5EF4-FFF2-40B4-BE49-F238E27FC236}">
                <a16:creationId xmlns:a16="http://schemas.microsoft.com/office/drawing/2014/main" id="{A764693E-CEF2-44C3-9016-934A1A26E22A}"/>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BE17CC83-A4DF-43DC-8215-4A5C507E5BC1}"/>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11 / 14</a:t>
            </a:r>
          </a:p>
        </p:txBody>
      </p:sp>
    </p:spTree>
    <p:extLst>
      <p:ext uri="{BB962C8B-B14F-4D97-AF65-F5344CB8AC3E}">
        <p14:creationId xmlns:p14="http://schemas.microsoft.com/office/powerpoint/2010/main" val="1258351167"/>
      </p:ext>
    </p:extLst>
  </p:cSld>
</p:sld>
</file>

<file path=ppt/slides/slide12.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DDF304-6E2C-4E2A-88EE-B84BB4F298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22DFD2-A10B-4DF5-995E-27E368644295}"/>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572A8CB5-266C-478D-A5E7-B6679DDBC615}"/>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EU AI Act dan pendekatan AS</a:t>
            </a:r>
          </a:p>
        </p:txBody>
      </p:sp>
      <p:sp>
        <p:nvSpPr>
          <p:cNvPr id="4" name="">
            <a:extLst xmlns:a="http://schemas.openxmlformats.org/drawingml/2006/main">
              <a:ext uri="{FF2B5EF4-FFF2-40B4-BE49-F238E27FC236}">
                <a16:creationId xmlns:a16="http://schemas.microsoft.com/office/drawing/2014/main" id="{8B73DA5A-442C-4386-A9D7-DE8D7D117673}"/>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Kewajiban berbasis risiko dan kerangka pengelolaan risiko</a:t>
            </a:r>
          </a:p>
        </p:txBody>
      </p:sp>
      <p:sp>
        <p:nvSpPr>
          <p:cNvPr id="5" name="">
            <a:extLst xmlns:a="http://schemas.openxmlformats.org/drawingml/2006/main">
              <a:ext uri="{FF2B5EF4-FFF2-40B4-BE49-F238E27FC236}">
                <a16:creationId xmlns:a16="http://schemas.microsoft.com/office/drawing/2014/main" id="{9250A163-8973-4085-A68F-93D420A89CA1}"/>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9DAB90-11A5-4526-85D6-E306E623764D}"/>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Uni Eropa</a:t>
            </a:r>
          </a:p>
        </p:txBody>
      </p:sp>
      <p:sp>
        <p:nvSpPr>
          <p:cNvPr id="7" name="">
            <a:extLst xmlns:a="http://schemas.openxmlformats.org/drawingml/2006/main">
              <a:ext uri="{FF2B5EF4-FFF2-40B4-BE49-F238E27FC236}">
                <a16:creationId xmlns:a16="http://schemas.microsoft.com/office/drawing/2014/main" id="{44DA8223-E5AC-452E-9D35-44CCB1B41305}"/>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AI Act + amandemen 2026; dokumentasi, transparansi, pengawasan</a:t>
            </a:r>
          </a:p>
        </p:txBody>
      </p:sp>
      <p:sp>
        <p:nvSpPr>
          <p:cNvPr id="8" name="">
            <a:extLst xmlns:a="http://schemas.openxmlformats.org/drawingml/2006/main">
              <a:ext uri="{FF2B5EF4-FFF2-40B4-BE49-F238E27FC236}">
                <a16:creationId xmlns:a16="http://schemas.microsoft.com/office/drawing/2014/main" id="{E1D7F458-1CC5-4A7D-AF58-51E7424A5A22}"/>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1B763A-D4B0-46EC-84B2-A87C906A0881}"/>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Amerika Serikat</a:t>
            </a:r>
          </a:p>
        </p:txBody>
      </p:sp>
      <p:sp>
        <p:nvSpPr>
          <p:cNvPr id="10" name="">
            <a:extLst xmlns:a="http://schemas.openxmlformats.org/drawingml/2006/main">
              <a:ext uri="{FF2B5EF4-FFF2-40B4-BE49-F238E27FC236}">
                <a16:creationId xmlns:a16="http://schemas.microsoft.com/office/drawing/2014/main" id="{85F63EF7-54A7-4812-AD67-BEA67B2882B0}"/>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NIST RMF dan Action Plan 2025; risiko, inovasi, infrastruktur</a:t>
            </a:r>
          </a:p>
        </p:txBody>
      </p:sp>
      <p:sp>
        <p:nvSpPr>
          <p:cNvPr id="11" name="">
            <a:extLst xmlns:a="http://schemas.openxmlformats.org/drawingml/2006/main">
              <a:ext uri="{FF2B5EF4-FFF2-40B4-BE49-F238E27FC236}">
                <a16:creationId xmlns:a16="http://schemas.microsoft.com/office/drawing/2014/main" id="{D09950BB-F765-40B6-82C3-12F3AEBF8B09}"/>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9D90F32-0112-4C83-953D-CCB65E480A88}"/>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Pelajaran Indonesia</a:t>
            </a:r>
          </a:p>
        </p:txBody>
      </p:sp>
      <p:sp>
        <p:nvSpPr>
          <p:cNvPr id="13" name="">
            <a:extLst xmlns:a="http://schemas.openxmlformats.org/drawingml/2006/main">
              <a:ext uri="{FF2B5EF4-FFF2-40B4-BE49-F238E27FC236}">
                <a16:creationId xmlns:a16="http://schemas.microsoft.com/office/drawing/2014/main" id="{E11D4C63-3AC5-4B2B-A9C5-37A222519F05}"/>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Kewajiban minimum yang dapat diaudit + panduan teknis adaptif</a:t>
            </a:r>
          </a:p>
        </p:txBody>
      </p:sp>
      <p:sp>
        <p:nvSpPr>
          <p:cNvPr id="14" name="">
            <a:extLst xmlns:a="http://schemas.openxmlformats.org/drawingml/2006/main">
              <a:ext uri="{FF2B5EF4-FFF2-40B4-BE49-F238E27FC236}">
                <a16:creationId xmlns:a16="http://schemas.microsoft.com/office/drawing/2014/main" id="{08F2C97C-D4FD-4317-AE7E-0F5239E8421D}"/>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D445C87A-6189-441D-BDEE-BA72BE3B9B85}"/>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12 / 14</a:t>
            </a:r>
          </a:p>
        </p:txBody>
      </p:sp>
    </p:spTree>
    <p:extLst>
      <p:ext uri="{BB962C8B-B14F-4D97-AF65-F5344CB8AC3E}">
        <p14:creationId xmlns:p14="http://schemas.microsoft.com/office/powerpoint/2010/main" val="1195809836"/>
      </p:ext>
    </p:extLst>
  </p:cSld>
</p:sld>
</file>

<file path=ppt/slides/slide13.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DBF8F5-929A-44BA-951B-9C1744A5F5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CF3A9A-D9E4-4EF7-938C-F638FD3DB715}"/>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F45C9AF2-53A1-4AE5-9DAC-A4255A0F6180}"/>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Tiga kebijakan Indonesia yang terukur</a:t>
            </a:r>
          </a:p>
        </p:txBody>
      </p:sp>
      <p:sp>
        <p:nvSpPr>
          <p:cNvPr id="4" name="">
            <a:extLst xmlns:a="http://schemas.openxmlformats.org/drawingml/2006/main">
              <a:ext uri="{FF2B5EF4-FFF2-40B4-BE49-F238E27FC236}">
                <a16:creationId xmlns:a16="http://schemas.microsoft.com/office/drawing/2014/main" id="{7996D57D-F9B1-4222-BB40-D52543BD336F}"/>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Usulan penulis; pelaksana dan KPI bukan capaian aktual</a:t>
            </a:r>
          </a:p>
        </p:txBody>
      </p:sp>
      <p:sp>
        <p:nvSpPr>
          <p:cNvPr id="5" name="">
            <a:extLst xmlns:a="http://schemas.openxmlformats.org/drawingml/2006/main">
              <a:ext uri="{FF2B5EF4-FFF2-40B4-BE49-F238E27FC236}">
                <a16:creationId xmlns:a16="http://schemas.microsoft.com/office/drawing/2014/main" id="{90C5C562-FB00-45D8-A107-497A76C3B73B}"/>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9A3273-B02C-433A-82A9-E752FBBACBBC}"/>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Evaluasi agen · 12 bulan</a:t>
            </a:r>
          </a:p>
        </p:txBody>
      </p:sp>
      <p:sp>
        <p:nvSpPr>
          <p:cNvPr id="7" name="">
            <a:extLst xmlns:a="http://schemas.openxmlformats.org/drawingml/2006/main">
              <a:ext uri="{FF2B5EF4-FFF2-40B4-BE49-F238E27FC236}">
                <a16:creationId xmlns:a16="http://schemas.microsoft.com/office/drawing/2014/main" id="{C7184B15-3A95-4C28-966D-422AF4E0C143}"/>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Komdigi/BRIN/LKPP: 10 pilot, 500 skenario, 100% kartu evaluasi</a:t>
            </a:r>
          </a:p>
        </p:txBody>
      </p:sp>
      <p:sp>
        <p:nvSpPr>
          <p:cNvPr id="8" name="">
            <a:extLst xmlns:a="http://schemas.openxmlformats.org/drawingml/2006/main">
              <a:ext uri="{FF2B5EF4-FFF2-40B4-BE49-F238E27FC236}">
                <a16:creationId xmlns:a16="http://schemas.microsoft.com/office/drawing/2014/main" id="{403BE8B8-A5D9-41AA-97DE-6297F0C82631}"/>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C69633-312C-45FF-B51F-E227BF58DC90}"/>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Izin tindakan · 12 bulan</a:t>
            </a:r>
          </a:p>
        </p:txBody>
      </p:sp>
      <p:sp>
        <p:nvSpPr>
          <p:cNvPr id="10" name="">
            <a:extLst xmlns:a="http://schemas.openxmlformats.org/drawingml/2006/main">
              <a:ext uri="{FF2B5EF4-FFF2-40B4-BE49-F238E27FC236}">
                <a16:creationId xmlns:a16="http://schemas.microsoft.com/office/drawing/2014/main" id="{AE3545E7-055D-4C19-9442-FE9BE441FF09}"/>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Komdigi/BSSN/regulator: token izin; 200 uji bypass aman</a:t>
            </a:r>
          </a:p>
        </p:txBody>
      </p:sp>
      <p:sp>
        <p:nvSpPr>
          <p:cNvPr id="11" name="">
            <a:extLst xmlns:a="http://schemas.openxmlformats.org/drawingml/2006/main">
              <a:ext uri="{FF2B5EF4-FFF2-40B4-BE49-F238E27FC236}">
                <a16:creationId xmlns:a16="http://schemas.microsoft.com/office/drawing/2014/main" id="{80D31EFD-0CA8-4E67-831E-066D12585E2C}"/>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66DF0EE-5B9C-40D8-99AD-1A710744A7AA}"/>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Data dan insiden · 6 bulan</a:t>
            </a:r>
          </a:p>
        </p:txBody>
      </p:sp>
      <p:sp>
        <p:nvSpPr>
          <p:cNvPr id="13" name="">
            <a:extLst xmlns:a="http://schemas.openxmlformats.org/drawingml/2006/main">
              <a:ext uri="{FF2B5EF4-FFF2-40B4-BE49-F238E27FC236}">
                <a16:creationId xmlns:a16="http://schemas.microsoft.com/office/drawing/2014/main" id="{40108BF7-4F3E-471C-A6FD-8971FB722E11}"/>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Pengendali data/pengawas: 100% DPIA wajib; notifikasi 3×24 jam</a:t>
            </a:r>
          </a:p>
        </p:txBody>
      </p:sp>
      <p:sp>
        <p:nvSpPr>
          <p:cNvPr id="14" name="">
            <a:extLst xmlns:a="http://schemas.openxmlformats.org/drawingml/2006/main">
              <a:ext uri="{FF2B5EF4-FFF2-40B4-BE49-F238E27FC236}">
                <a16:creationId xmlns:a16="http://schemas.microsoft.com/office/drawing/2014/main" id="{6D853AD4-8387-4BB3-9DFF-2B8DA4032FD3}"/>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627A1FFB-EA1C-4D67-8414-852845D43367}"/>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13 / 14</a:t>
            </a:r>
          </a:p>
        </p:txBody>
      </p:sp>
    </p:spTree>
    <p:extLst>
      <p:ext uri="{BB962C8B-B14F-4D97-AF65-F5344CB8AC3E}">
        <p14:creationId xmlns:p14="http://schemas.microsoft.com/office/powerpoint/2010/main" val="1291409536"/>
      </p:ext>
    </p:extLst>
  </p:cSld>
</p:sld>
</file>

<file path=ppt/slides/slide14.xml><?xml version="1.0" encoding="utf-8"?>
<p:sld xmlns:p="http://schemas.openxmlformats.org/presentationml/2006/main">
  <p:cSld>
    <p:bg>
      <p:bgPr>
        <a:solidFill xmlns:a="http://schemas.openxmlformats.org/drawingml/2006/main">
          <a:srgbClr val="101C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478EA96-8F8D-4906-9A43-AE29E3F6EE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ED3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8D697A-6706-4E65-A0DD-7DFD4D458D10}"/>
              </a:ext>
            </a:extLst>
          </p:cNvPr>
          <p:cNvSpPr>
            <a:spLocks xmlns:a="http://schemas.openxmlformats.org/drawingml/2006/main" noGrp="1"/>
          </p:cNvSpPr>
          <p:nvPr/>
        </p:nvSpPr>
        <p:spPr>
          <a:xfrm xmlns:a="http://schemas.openxmlformats.org/drawingml/2006/main">
            <a:off x="609600" y="3619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4DDC7"/>
                </a:solidFill>
                <a:latin typeface="Arial"/>
                <a:ea typeface="Arial"/>
                <a:cs typeface="Arial"/>
              </a:defRPr>
            </a:defPPr>
            <a:lvl1pPr>
              <a:defRPr sz="1200" b="1">
                <a:solidFill>
                  <a:srgbClr val="64DDC7"/>
                </a:solidFill>
                <a:latin typeface="Arial"/>
                <a:ea typeface="Arial"/>
                <a:cs typeface="Arial"/>
              </a:defRPr>
            </a:lvl1pPr>
            <a:lvl2pPr>
              <a:defRPr sz="1200" b="1">
                <a:solidFill>
                  <a:srgbClr val="64DDC7"/>
                </a:solidFill>
                <a:latin typeface="Arial"/>
                <a:ea typeface="Arial"/>
                <a:cs typeface="Arial"/>
              </a:defRPr>
            </a:lvl2pPr>
            <a:lvl3pPr>
              <a:defRPr sz="1200" b="1">
                <a:solidFill>
                  <a:srgbClr val="64DDC7"/>
                </a:solidFill>
                <a:latin typeface="Arial"/>
                <a:ea typeface="Arial"/>
                <a:cs typeface="Arial"/>
              </a:defRPr>
            </a:lvl3pPr>
            <a:lvl4pPr>
              <a:defRPr sz="1200" b="1">
                <a:solidFill>
                  <a:srgbClr val="64DDC7"/>
                </a:solidFill>
                <a:latin typeface="Arial"/>
                <a:ea typeface="Arial"/>
                <a:cs typeface="Arial"/>
              </a:defRPr>
            </a:lvl4pPr>
            <a:lvl5pPr>
              <a:defRPr sz="1200" b="1">
                <a:solidFill>
                  <a:srgbClr val="64DDC7"/>
                </a:solidFill>
                <a:latin typeface="Arial"/>
                <a:ea typeface="Arial"/>
                <a:cs typeface="Arial"/>
              </a:defRPr>
            </a:lvl5pPr>
            <a:lvl6pPr>
              <a:defRPr sz="1200" b="1">
                <a:solidFill>
                  <a:srgbClr val="64DDC7"/>
                </a:solidFill>
                <a:latin typeface="Arial"/>
                <a:ea typeface="Arial"/>
                <a:cs typeface="Arial"/>
              </a:defRPr>
            </a:lvl6pPr>
            <a:lvl7pPr>
              <a:defRPr sz="1200" b="1">
                <a:solidFill>
                  <a:srgbClr val="64DDC7"/>
                </a:solidFill>
                <a:latin typeface="Arial"/>
                <a:ea typeface="Arial"/>
                <a:cs typeface="Arial"/>
              </a:defRPr>
            </a:lvl7pPr>
            <a:lvl8pPr>
              <a:defRPr sz="1200" b="1">
                <a:solidFill>
                  <a:srgbClr val="64DDC7"/>
                </a:solidFill>
                <a:latin typeface="Arial"/>
                <a:ea typeface="Arial"/>
                <a:cs typeface="Arial"/>
              </a:defRPr>
            </a:lvl8pPr>
            <a:lvl9pPr>
              <a:defRPr sz="1200" b="1">
                <a:solidFill>
                  <a:srgbClr val="64DDC7"/>
                </a:solidFill>
                <a:latin typeface="Arial"/>
                <a:ea typeface="Arial"/>
                <a:cs typeface="Arial"/>
              </a:defRPr>
            </a:lvl9pPr>
          </a:lstStyle>
          <a:p xmlns:a="http://schemas.openxmlformats.org/drawingml/2006/main">
            <a:pPr>
              <a:defRPr sz="1200" b="1">
                <a:solidFill>
                  <a:srgbClr val="64DDC7"/>
                </a:solidFill>
                <a:latin typeface="Arial"/>
                <a:ea typeface="Arial"/>
                <a:cs typeface="Arial"/>
              </a:defRPr>
            </a:pPr>
            <a:r>
              <a:rPr sz="1200" b="1">
                <a:solidFill>
                  <a:srgbClr val="64DDC7"/>
                </a:solidFill>
                <a:latin typeface="Arial"/>
                <a:ea typeface="Arial"/>
                <a:cs typeface="Arial"/>
              </a:rPr>
              <a:t>PERSONAL AI AGENT · EVALUASI KEAMANAN</a:t>
            </a:r>
          </a:p>
        </p:txBody>
      </p:sp>
      <p:sp>
        <p:nvSpPr>
          <p:cNvPr id="3" name="">
            <a:extLst xmlns:a="http://schemas.openxmlformats.org/drawingml/2006/main">
              <a:ext uri="{FF2B5EF4-FFF2-40B4-BE49-F238E27FC236}">
                <a16:creationId xmlns:a16="http://schemas.microsoft.com/office/drawing/2014/main" id="{4EC1FF67-BA1F-45D4-9804-E30E705A3484}"/>
              </a:ext>
            </a:extLst>
          </p:cNvPr>
          <p:cNvSpPr>
            <a:spLocks xmlns:a="http://schemas.openxmlformats.org/drawingml/2006/main" noGrp="1"/>
          </p:cNvSpPr>
          <p:nvPr/>
        </p:nvSpPr>
        <p:spPr>
          <a:xfrm xmlns:a="http://schemas.openxmlformats.org/drawingml/2006/main">
            <a:off x="609600" y="904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Kesimpulan dan riset lanjutan</a:t>
            </a:r>
          </a:p>
        </p:txBody>
      </p:sp>
      <p:sp>
        <p:nvSpPr>
          <p:cNvPr id="4" name="">
            <a:extLst xmlns:a="http://schemas.openxmlformats.org/drawingml/2006/main">
              <a:ext uri="{FF2B5EF4-FFF2-40B4-BE49-F238E27FC236}">
                <a16:creationId xmlns:a16="http://schemas.microsoft.com/office/drawing/2014/main" id="{17ABECDE-6358-411D-92CF-6C59C58CB65A}"/>
              </a:ext>
            </a:extLst>
          </p:cNvPr>
          <p:cNvSpPr>
            <a:spLocks xmlns:a="http://schemas.openxmlformats.org/drawingml/2006/main" noGrp="1"/>
          </p:cNvSpPr>
          <p:nvPr/>
        </p:nvSpPr>
        <p:spPr>
          <a:xfrm xmlns:a="http://schemas.openxmlformats.org/drawingml/2006/main">
            <a:off x="62865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4D3"/>
                </a:solidFill>
                <a:latin typeface="Arial"/>
                <a:ea typeface="Arial"/>
                <a:cs typeface="Arial"/>
              </a:defRPr>
            </a:defPPr>
            <a:lvl1pPr>
              <a:defRPr sz="1950" b="0">
                <a:solidFill>
                  <a:srgbClr val="B5C4D3"/>
                </a:solidFill>
                <a:latin typeface="Arial"/>
                <a:ea typeface="Arial"/>
                <a:cs typeface="Arial"/>
              </a:defRPr>
            </a:lvl1pPr>
            <a:lvl2pPr>
              <a:defRPr sz="1950" b="0">
                <a:solidFill>
                  <a:srgbClr val="B5C4D3"/>
                </a:solidFill>
                <a:latin typeface="Arial"/>
                <a:ea typeface="Arial"/>
                <a:cs typeface="Arial"/>
              </a:defRPr>
            </a:lvl2pPr>
            <a:lvl3pPr>
              <a:defRPr sz="1950" b="0">
                <a:solidFill>
                  <a:srgbClr val="B5C4D3"/>
                </a:solidFill>
                <a:latin typeface="Arial"/>
                <a:ea typeface="Arial"/>
                <a:cs typeface="Arial"/>
              </a:defRPr>
            </a:lvl3pPr>
            <a:lvl4pPr>
              <a:defRPr sz="1950" b="0">
                <a:solidFill>
                  <a:srgbClr val="B5C4D3"/>
                </a:solidFill>
                <a:latin typeface="Arial"/>
                <a:ea typeface="Arial"/>
                <a:cs typeface="Arial"/>
              </a:defRPr>
            </a:lvl4pPr>
            <a:lvl5pPr>
              <a:defRPr sz="1950" b="0">
                <a:solidFill>
                  <a:srgbClr val="B5C4D3"/>
                </a:solidFill>
                <a:latin typeface="Arial"/>
                <a:ea typeface="Arial"/>
                <a:cs typeface="Arial"/>
              </a:defRPr>
            </a:lvl5pPr>
            <a:lvl6pPr>
              <a:defRPr sz="1950" b="0">
                <a:solidFill>
                  <a:srgbClr val="B5C4D3"/>
                </a:solidFill>
                <a:latin typeface="Arial"/>
                <a:ea typeface="Arial"/>
                <a:cs typeface="Arial"/>
              </a:defRPr>
            </a:lvl6pPr>
            <a:lvl7pPr>
              <a:defRPr sz="1950" b="0">
                <a:solidFill>
                  <a:srgbClr val="B5C4D3"/>
                </a:solidFill>
                <a:latin typeface="Arial"/>
                <a:ea typeface="Arial"/>
                <a:cs typeface="Arial"/>
              </a:defRPr>
            </a:lvl7pPr>
            <a:lvl8pPr>
              <a:defRPr sz="1950" b="0">
                <a:solidFill>
                  <a:srgbClr val="B5C4D3"/>
                </a:solidFill>
                <a:latin typeface="Arial"/>
                <a:ea typeface="Arial"/>
                <a:cs typeface="Arial"/>
              </a:defRPr>
            </a:lvl8pPr>
            <a:lvl9pPr>
              <a:defRPr sz="1950" b="0">
                <a:solidFill>
                  <a:srgbClr val="B5C4D3"/>
                </a:solidFill>
                <a:latin typeface="Arial"/>
                <a:ea typeface="Arial"/>
                <a:cs typeface="Arial"/>
              </a:defRPr>
            </a:lvl9pPr>
          </a:lstStyle>
          <a:p xmlns:a="http://schemas.openxmlformats.org/drawingml/2006/main">
            <a:pPr>
              <a:defRPr sz="1950" b="0">
                <a:solidFill>
                  <a:srgbClr val="B5C4D3"/>
                </a:solidFill>
                <a:latin typeface="Arial"/>
                <a:ea typeface="Arial"/>
                <a:cs typeface="Arial"/>
              </a:defRPr>
            </a:pPr>
            <a:r>
              <a:rPr sz="1950" b="0">
                <a:solidFill>
                  <a:srgbClr val="B5C4D3"/>
                </a:solidFill>
                <a:latin typeface="Arial"/>
                <a:ea typeface="Arial"/>
                <a:cs typeface="Arial"/>
              </a:rPr>
              <a:t>Kesiapsiagaan mengikuti bukti kemampuan dan kegagalan</a:t>
            </a:r>
          </a:p>
        </p:txBody>
      </p:sp>
      <p:sp>
        <p:nvSpPr>
          <p:cNvPr id="5" name="">
            <a:extLst xmlns:a="http://schemas.openxmlformats.org/drawingml/2006/main">
              <a:ext uri="{FF2B5EF4-FFF2-40B4-BE49-F238E27FC236}">
                <a16:creationId xmlns:a16="http://schemas.microsoft.com/office/drawing/2014/main" id="{BA54A57B-B618-4237-8518-210D5E0DEFD2}"/>
              </a:ext>
            </a:extLst>
          </p:cNvPr>
          <p:cNvSpPr>
            <a:spLocks xmlns:a="http://schemas.openxmlformats.org/drawingml/2006/main" noGrp="1"/>
          </p:cNvSpPr>
          <p:nvPr/>
        </p:nvSpPr>
        <p:spPr>
          <a:xfrm xmlns:a="http://schemas.openxmlformats.org/drawingml/2006/main">
            <a:off x="6096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C83F6E-ABBA-4096-91E1-B073E51949B8}"/>
              </a:ext>
            </a:extLst>
          </p:cNvPr>
          <p:cNvSpPr>
            <a:spLocks xmlns:a="http://schemas.openxmlformats.org/drawingml/2006/main" noGrp="1"/>
          </p:cNvSpPr>
          <p:nvPr/>
        </p:nvSpPr>
        <p:spPr>
          <a:xfrm xmlns:a="http://schemas.openxmlformats.org/drawingml/2006/main">
            <a:off x="8286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Posisi awal</a:t>
            </a:r>
          </a:p>
        </p:txBody>
      </p:sp>
      <p:sp>
        <p:nvSpPr>
          <p:cNvPr id="7" name="">
            <a:extLst xmlns:a="http://schemas.openxmlformats.org/drawingml/2006/main">
              <a:ext uri="{FF2B5EF4-FFF2-40B4-BE49-F238E27FC236}">
                <a16:creationId xmlns:a16="http://schemas.microsoft.com/office/drawing/2014/main" id="{12CC0802-A90C-4A48-9B36-D79885E27EE6}"/>
              </a:ext>
            </a:extLst>
          </p:cNvPr>
          <p:cNvSpPr>
            <a:spLocks xmlns:a="http://schemas.openxmlformats.org/drawingml/2006/main" noGrp="1"/>
          </p:cNvSpPr>
          <p:nvPr/>
        </p:nvSpPr>
        <p:spPr>
          <a:xfrm xmlns:a="http://schemas.openxmlformats.org/drawingml/2006/main">
            <a:off x="8286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Tetap mungkin dalam 20 tahun; belum terbukti oleh eksperimen ini</a:t>
            </a:r>
          </a:p>
        </p:txBody>
      </p:sp>
      <p:sp>
        <p:nvSpPr>
          <p:cNvPr id="8" name="">
            <a:extLst xmlns:a="http://schemas.openxmlformats.org/drawingml/2006/main">
              <a:ext uri="{FF2B5EF4-FFF2-40B4-BE49-F238E27FC236}">
                <a16:creationId xmlns:a16="http://schemas.microsoft.com/office/drawing/2014/main" id="{D33B6BBD-A440-46A5-AAC8-03E659BE21FE}"/>
              </a:ext>
            </a:extLst>
          </p:cNvPr>
          <p:cNvSpPr>
            <a:spLocks xmlns:a="http://schemas.openxmlformats.org/drawingml/2006/main" noGrp="1"/>
          </p:cNvSpPr>
          <p:nvPr/>
        </p:nvSpPr>
        <p:spPr>
          <a:xfrm xmlns:a="http://schemas.openxmlformats.org/drawingml/2006/main">
            <a:off x="432435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27B5E77-9187-4C45-A1F6-C02F040727CF}"/>
              </a:ext>
            </a:extLst>
          </p:cNvPr>
          <p:cNvSpPr>
            <a:spLocks xmlns:a="http://schemas.openxmlformats.org/drawingml/2006/main" noGrp="1"/>
          </p:cNvSpPr>
          <p:nvPr/>
        </p:nvSpPr>
        <p:spPr>
          <a:xfrm xmlns:a="http://schemas.openxmlformats.org/drawingml/2006/main">
            <a:off x="454342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Arah riset</a:t>
            </a:r>
          </a:p>
        </p:txBody>
      </p:sp>
      <p:sp>
        <p:nvSpPr>
          <p:cNvPr id="10" name="">
            <a:extLst xmlns:a="http://schemas.openxmlformats.org/drawingml/2006/main">
              <a:ext uri="{FF2B5EF4-FFF2-40B4-BE49-F238E27FC236}">
                <a16:creationId xmlns:a16="http://schemas.microsoft.com/office/drawing/2014/main" id="{B3F9FCBE-A929-49B6-AFB8-17DA598D5C28}"/>
              </a:ext>
            </a:extLst>
          </p:cNvPr>
          <p:cNvSpPr>
            <a:spLocks xmlns:a="http://schemas.openxmlformats.org/drawingml/2006/main" noGrp="1"/>
          </p:cNvSpPr>
          <p:nvPr/>
        </p:nvSpPr>
        <p:spPr>
          <a:xfrm xmlns:a="http://schemas.openxmlformats.org/drawingml/2006/main">
            <a:off x="454342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Sandbox beralat: bandingkan ujaran dengan tindakan</a:t>
            </a:r>
          </a:p>
        </p:txBody>
      </p:sp>
      <p:sp>
        <p:nvSpPr>
          <p:cNvPr id="11" name="">
            <a:extLst xmlns:a="http://schemas.openxmlformats.org/drawingml/2006/main">
              <a:ext uri="{FF2B5EF4-FFF2-40B4-BE49-F238E27FC236}">
                <a16:creationId xmlns:a16="http://schemas.microsoft.com/office/drawing/2014/main" id="{449407F9-F242-4608-81E8-12510EBFAFE9}"/>
              </a:ext>
            </a:extLst>
          </p:cNvPr>
          <p:cNvSpPr>
            <a:spLocks xmlns:a="http://schemas.openxmlformats.org/drawingml/2006/main" noGrp="1"/>
          </p:cNvSpPr>
          <p:nvPr/>
        </p:nvSpPr>
        <p:spPr>
          <a:xfrm xmlns:a="http://schemas.openxmlformats.org/drawingml/2006/main">
            <a:off x="8039100" y="3095625"/>
            <a:ext cx="3486150" cy="2371725"/>
          </a:xfrm>
          <a:prstGeom xmlns:a="http://schemas.openxmlformats.org/drawingml/2006/main" prst="rect">
            <a:avLst/>
          </a:prstGeom>
          <a:solidFill xmlns:a="http://schemas.openxmlformats.org/drawingml/2006/main">
            <a:srgbClr val="1D30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7B7D08-8937-4E5C-9F1D-96B7FB380A0C}"/>
              </a:ext>
            </a:extLst>
          </p:cNvPr>
          <p:cNvSpPr>
            <a:spLocks xmlns:a="http://schemas.openxmlformats.org/drawingml/2006/main" noGrp="1"/>
          </p:cNvSpPr>
          <p:nvPr/>
        </p:nvSpPr>
        <p:spPr>
          <a:xfrm xmlns:a="http://schemas.openxmlformats.org/drawingml/2006/main">
            <a:off x="8258175" y="33337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4DDC7"/>
                </a:solidFill>
                <a:latin typeface="Arial"/>
                <a:ea typeface="Arial"/>
                <a:cs typeface="Arial"/>
              </a:defRPr>
            </a:defPPr>
            <a:lvl1pPr>
              <a:defRPr sz="2025" b="1">
                <a:solidFill>
                  <a:srgbClr val="64DDC7"/>
                </a:solidFill>
                <a:latin typeface="Arial"/>
                <a:ea typeface="Arial"/>
                <a:cs typeface="Arial"/>
              </a:defRPr>
            </a:lvl1pPr>
            <a:lvl2pPr>
              <a:defRPr sz="2025" b="1">
                <a:solidFill>
                  <a:srgbClr val="64DDC7"/>
                </a:solidFill>
                <a:latin typeface="Arial"/>
                <a:ea typeface="Arial"/>
                <a:cs typeface="Arial"/>
              </a:defRPr>
            </a:lvl2pPr>
            <a:lvl3pPr>
              <a:defRPr sz="2025" b="1">
                <a:solidFill>
                  <a:srgbClr val="64DDC7"/>
                </a:solidFill>
                <a:latin typeface="Arial"/>
                <a:ea typeface="Arial"/>
                <a:cs typeface="Arial"/>
              </a:defRPr>
            </a:lvl3pPr>
            <a:lvl4pPr>
              <a:defRPr sz="2025" b="1">
                <a:solidFill>
                  <a:srgbClr val="64DDC7"/>
                </a:solidFill>
                <a:latin typeface="Arial"/>
                <a:ea typeface="Arial"/>
                <a:cs typeface="Arial"/>
              </a:defRPr>
            </a:lvl4pPr>
            <a:lvl5pPr>
              <a:defRPr sz="2025" b="1">
                <a:solidFill>
                  <a:srgbClr val="64DDC7"/>
                </a:solidFill>
                <a:latin typeface="Arial"/>
                <a:ea typeface="Arial"/>
                <a:cs typeface="Arial"/>
              </a:defRPr>
            </a:lvl5pPr>
            <a:lvl6pPr>
              <a:defRPr sz="2025" b="1">
                <a:solidFill>
                  <a:srgbClr val="64DDC7"/>
                </a:solidFill>
                <a:latin typeface="Arial"/>
                <a:ea typeface="Arial"/>
                <a:cs typeface="Arial"/>
              </a:defRPr>
            </a:lvl6pPr>
            <a:lvl7pPr>
              <a:defRPr sz="2025" b="1">
                <a:solidFill>
                  <a:srgbClr val="64DDC7"/>
                </a:solidFill>
                <a:latin typeface="Arial"/>
                <a:ea typeface="Arial"/>
                <a:cs typeface="Arial"/>
              </a:defRPr>
            </a:lvl7pPr>
            <a:lvl8pPr>
              <a:defRPr sz="2025" b="1">
                <a:solidFill>
                  <a:srgbClr val="64DDC7"/>
                </a:solidFill>
                <a:latin typeface="Arial"/>
                <a:ea typeface="Arial"/>
                <a:cs typeface="Arial"/>
              </a:defRPr>
            </a:lvl8pPr>
            <a:lvl9pPr>
              <a:defRPr sz="2025" b="1">
                <a:solidFill>
                  <a:srgbClr val="64DDC7"/>
                </a:solidFill>
                <a:latin typeface="Arial"/>
                <a:ea typeface="Arial"/>
                <a:cs typeface="Arial"/>
              </a:defRPr>
            </a:lvl9pPr>
          </a:lstStyle>
          <a:p xmlns:a="http://schemas.openxmlformats.org/drawingml/2006/main">
            <a:pPr>
              <a:defRPr sz="2025" b="1">
                <a:solidFill>
                  <a:srgbClr val="64DDC7"/>
                </a:solidFill>
                <a:latin typeface="Arial"/>
                <a:ea typeface="Arial"/>
                <a:cs typeface="Arial"/>
              </a:defRPr>
            </a:pPr>
            <a:r>
              <a:rPr sz="2025" b="1">
                <a:solidFill>
                  <a:srgbClr val="64DDC7"/>
                </a:solidFill>
                <a:latin typeface="Arial"/>
                <a:ea typeface="Arial"/>
                <a:cs typeface="Arial"/>
              </a:rPr>
              <a:t>Sebelum dikumpulkan</a:t>
            </a:r>
          </a:p>
        </p:txBody>
      </p:sp>
      <p:sp>
        <p:nvSpPr>
          <p:cNvPr id="13" name="">
            <a:extLst xmlns:a="http://schemas.openxmlformats.org/drawingml/2006/main">
              <a:ext uri="{FF2B5EF4-FFF2-40B4-BE49-F238E27FC236}">
                <a16:creationId xmlns:a16="http://schemas.microsoft.com/office/drawing/2014/main" id="{BCF26E3E-0BCF-446F-B2D6-C62181C86E58}"/>
              </a:ext>
            </a:extLst>
          </p:cNvPr>
          <p:cNvSpPr>
            <a:spLocks xmlns:a="http://schemas.openxmlformats.org/drawingml/2006/main" noGrp="1"/>
          </p:cNvSpPr>
          <p:nvPr/>
        </p:nvSpPr>
        <p:spPr>
          <a:xfrm xmlns:a="http://schemas.openxmlformats.org/drawingml/2006/main">
            <a:off x="8258175" y="4095750"/>
            <a:ext cx="304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9EFF6"/>
                </a:solidFill>
                <a:latin typeface="Arial"/>
                <a:ea typeface="Arial"/>
                <a:cs typeface="Arial"/>
              </a:defRPr>
            </a:defPPr>
            <a:lvl1pPr>
              <a:defRPr sz="1800" b="0">
                <a:solidFill>
                  <a:srgbClr val="E9EFF6"/>
                </a:solidFill>
                <a:latin typeface="Arial"/>
                <a:ea typeface="Arial"/>
                <a:cs typeface="Arial"/>
              </a:defRPr>
            </a:lvl1pPr>
            <a:lvl2pPr>
              <a:defRPr sz="1800" b="0">
                <a:solidFill>
                  <a:srgbClr val="E9EFF6"/>
                </a:solidFill>
                <a:latin typeface="Arial"/>
                <a:ea typeface="Arial"/>
                <a:cs typeface="Arial"/>
              </a:defRPr>
            </a:lvl2pPr>
            <a:lvl3pPr>
              <a:defRPr sz="1800" b="0">
                <a:solidFill>
                  <a:srgbClr val="E9EFF6"/>
                </a:solidFill>
                <a:latin typeface="Arial"/>
                <a:ea typeface="Arial"/>
                <a:cs typeface="Arial"/>
              </a:defRPr>
            </a:lvl3pPr>
            <a:lvl4pPr>
              <a:defRPr sz="1800" b="0">
                <a:solidFill>
                  <a:srgbClr val="E9EFF6"/>
                </a:solidFill>
                <a:latin typeface="Arial"/>
                <a:ea typeface="Arial"/>
                <a:cs typeface="Arial"/>
              </a:defRPr>
            </a:lvl4pPr>
            <a:lvl5pPr>
              <a:defRPr sz="1800" b="0">
                <a:solidFill>
                  <a:srgbClr val="E9EFF6"/>
                </a:solidFill>
                <a:latin typeface="Arial"/>
                <a:ea typeface="Arial"/>
                <a:cs typeface="Arial"/>
              </a:defRPr>
            </a:lvl5pPr>
            <a:lvl6pPr>
              <a:defRPr sz="1800" b="0">
                <a:solidFill>
                  <a:srgbClr val="E9EFF6"/>
                </a:solidFill>
                <a:latin typeface="Arial"/>
                <a:ea typeface="Arial"/>
                <a:cs typeface="Arial"/>
              </a:defRPr>
            </a:lvl6pPr>
            <a:lvl7pPr>
              <a:defRPr sz="1800" b="0">
                <a:solidFill>
                  <a:srgbClr val="E9EFF6"/>
                </a:solidFill>
                <a:latin typeface="Arial"/>
                <a:ea typeface="Arial"/>
                <a:cs typeface="Arial"/>
              </a:defRPr>
            </a:lvl7pPr>
            <a:lvl8pPr>
              <a:defRPr sz="1800" b="0">
                <a:solidFill>
                  <a:srgbClr val="E9EFF6"/>
                </a:solidFill>
                <a:latin typeface="Arial"/>
                <a:ea typeface="Arial"/>
                <a:cs typeface="Arial"/>
              </a:defRPr>
            </a:lvl8pPr>
            <a:lvl9pPr>
              <a:defRPr sz="1800" b="0">
                <a:solidFill>
                  <a:srgbClr val="E9EFF6"/>
                </a:solidFill>
                <a:latin typeface="Arial"/>
                <a:ea typeface="Arial"/>
                <a:cs typeface="Arial"/>
              </a:defRPr>
            </a:lvl9pPr>
          </a:lstStyle>
          <a:p xmlns:a="http://schemas.openxmlformats.org/drawingml/2006/main">
            <a:pPr>
              <a:defRPr sz="1800" b="0">
                <a:solidFill>
                  <a:srgbClr val="E9EFF6"/>
                </a:solidFill>
                <a:latin typeface="Arial"/>
                <a:ea typeface="Arial"/>
                <a:cs typeface="Arial"/>
              </a:defRPr>
            </a:pPr>
            <a:r>
              <a:rPr sz="1800" b="0">
                <a:solidFill>
                  <a:srgbClr val="E9EFF6"/>
                </a:solidFill>
                <a:latin typeface="Arial"/>
                <a:ea typeface="Arial"/>
                <a:cs typeface="Arial"/>
              </a:rPr>
              <a:t>Eksekusi, anotasi, analisis; tinjau argumen dan deklarasi AI</a:t>
            </a:r>
          </a:p>
        </p:txBody>
      </p:sp>
      <p:sp>
        <p:nvSpPr>
          <p:cNvPr id="14" name="">
            <a:extLst xmlns:a="http://schemas.openxmlformats.org/drawingml/2006/main">
              <a:ext uri="{FF2B5EF4-FFF2-40B4-BE49-F238E27FC236}">
                <a16:creationId xmlns:a16="http://schemas.microsoft.com/office/drawing/2014/main" id="{2E45291D-4581-4F36-B6ED-394A9574E353}"/>
              </a:ext>
            </a:extLst>
          </p:cNvPr>
          <p:cNvSpPr>
            <a:spLocks xmlns:a="http://schemas.openxmlformats.org/drawingml/2006/main" noGrp="1"/>
          </p:cNvSpPr>
          <p:nvPr/>
        </p:nvSpPr>
        <p:spPr>
          <a:xfrm xmlns:a="http://schemas.openxmlformats.org/drawingml/2006/main">
            <a:off x="609600" y="61912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8AA0B7"/>
                </a:solidFill>
                <a:latin typeface="Arial"/>
                <a:ea typeface="Arial"/>
                <a:cs typeface="Arial"/>
              </a:defRPr>
            </a:defPPr>
            <a:lvl1pPr>
              <a:defRPr sz="1050" b="0">
                <a:solidFill>
                  <a:srgbClr val="8AA0B7"/>
                </a:solidFill>
                <a:latin typeface="Arial"/>
                <a:ea typeface="Arial"/>
                <a:cs typeface="Arial"/>
              </a:defRPr>
            </a:lvl1pPr>
            <a:lvl2pPr>
              <a:defRPr sz="1050" b="0">
                <a:solidFill>
                  <a:srgbClr val="8AA0B7"/>
                </a:solidFill>
                <a:latin typeface="Arial"/>
                <a:ea typeface="Arial"/>
                <a:cs typeface="Arial"/>
              </a:defRPr>
            </a:lvl2pPr>
            <a:lvl3pPr>
              <a:defRPr sz="1050" b="0">
                <a:solidFill>
                  <a:srgbClr val="8AA0B7"/>
                </a:solidFill>
                <a:latin typeface="Arial"/>
                <a:ea typeface="Arial"/>
                <a:cs typeface="Arial"/>
              </a:defRPr>
            </a:lvl3pPr>
            <a:lvl4pPr>
              <a:defRPr sz="1050" b="0">
                <a:solidFill>
                  <a:srgbClr val="8AA0B7"/>
                </a:solidFill>
                <a:latin typeface="Arial"/>
                <a:ea typeface="Arial"/>
                <a:cs typeface="Arial"/>
              </a:defRPr>
            </a:lvl4pPr>
            <a:lvl5pPr>
              <a:defRPr sz="1050" b="0">
                <a:solidFill>
                  <a:srgbClr val="8AA0B7"/>
                </a:solidFill>
                <a:latin typeface="Arial"/>
                <a:ea typeface="Arial"/>
                <a:cs typeface="Arial"/>
              </a:defRPr>
            </a:lvl5pPr>
            <a:lvl6pPr>
              <a:defRPr sz="1050" b="0">
                <a:solidFill>
                  <a:srgbClr val="8AA0B7"/>
                </a:solidFill>
                <a:latin typeface="Arial"/>
                <a:ea typeface="Arial"/>
                <a:cs typeface="Arial"/>
              </a:defRPr>
            </a:lvl6pPr>
            <a:lvl7pPr>
              <a:defRPr sz="1050" b="0">
                <a:solidFill>
                  <a:srgbClr val="8AA0B7"/>
                </a:solidFill>
                <a:latin typeface="Arial"/>
                <a:ea typeface="Arial"/>
                <a:cs typeface="Arial"/>
              </a:defRPr>
            </a:lvl7pPr>
            <a:lvl8pPr>
              <a:defRPr sz="1050" b="0">
                <a:solidFill>
                  <a:srgbClr val="8AA0B7"/>
                </a:solidFill>
                <a:latin typeface="Arial"/>
                <a:ea typeface="Arial"/>
                <a:cs typeface="Arial"/>
              </a:defRPr>
            </a:lvl8pPr>
            <a:lvl9pPr>
              <a:defRPr sz="1050" b="0">
                <a:solidFill>
                  <a:srgbClr val="8AA0B7"/>
                </a:solidFill>
                <a:latin typeface="Arial"/>
                <a:ea typeface="Arial"/>
                <a:cs typeface="Arial"/>
              </a:defRPr>
            </a:lvl9pPr>
          </a:lstStyle>
          <a:p xmlns:a="http://schemas.openxmlformats.org/drawingml/2006/main">
            <a:pPr>
              <a:defRPr sz="1050" b="0">
                <a:solidFill>
                  <a:srgbClr val="8AA0B7"/>
                </a:solidFill>
                <a:latin typeface="Arial"/>
                <a:ea typeface="Arial"/>
                <a:cs typeface="Arial"/>
              </a:defRPr>
            </a:pPr>
            <a:r>
              <a:rPr sz="1050" b="0">
                <a:solidFill>
                  <a:srgbClr val="8AA0B7"/>
                </a:solidFill>
                <a:latin typeface="Arial"/>
                <a:ea typeface="Arial"/>
                <a:cs typeface="Arial"/>
              </a:rPr>
              <a:t>DRAF BERBANTU AI · ARGUMEN WAJIB DITINJAU PENELITI</a:t>
            </a:r>
          </a:p>
        </p:txBody>
      </p:sp>
      <p:sp>
        <p:nvSpPr>
          <p:cNvPr id="15" name="">
            <a:extLst xmlns:a="http://schemas.openxmlformats.org/drawingml/2006/main">
              <a:ext uri="{FF2B5EF4-FFF2-40B4-BE49-F238E27FC236}">
                <a16:creationId xmlns:a16="http://schemas.microsoft.com/office/drawing/2014/main" id="{D7955515-2CE9-404C-8B55-0C1128065FCB}"/>
              </a:ext>
            </a:extLst>
          </p:cNvPr>
          <p:cNvSpPr>
            <a:spLocks xmlns:a="http://schemas.openxmlformats.org/drawingml/2006/main" noGrp="1"/>
          </p:cNvSpPr>
          <p:nvPr/>
        </p:nvSpPr>
        <p:spPr>
          <a:xfrm xmlns:a="http://schemas.openxmlformats.org/drawingml/2006/main">
            <a:off x="10906125" y="61912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8AA0B7"/>
                </a:solidFill>
                <a:latin typeface="Arial"/>
                <a:ea typeface="Arial"/>
                <a:cs typeface="Arial"/>
              </a:defRPr>
            </a:defPPr>
            <a:lvl1pPr>
              <a:defRPr sz="1125" b="0">
                <a:solidFill>
                  <a:srgbClr val="8AA0B7"/>
                </a:solidFill>
                <a:latin typeface="Arial"/>
                <a:ea typeface="Arial"/>
                <a:cs typeface="Arial"/>
              </a:defRPr>
            </a:lvl1pPr>
            <a:lvl2pPr>
              <a:defRPr sz="1125" b="0">
                <a:solidFill>
                  <a:srgbClr val="8AA0B7"/>
                </a:solidFill>
                <a:latin typeface="Arial"/>
                <a:ea typeface="Arial"/>
                <a:cs typeface="Arial"/>
              </a:defRPr>
            </a:lvl2pPr>
            <a:lvl3pPr>
              <a:defRPr sz="1125" b="0">
                <a:solidFill>
                  <a:srgbClr val="8AA0B7"/>
                </a:solidFill>
                <a:latin typeface="Arial"/>
                <a:ea typeface="Arial"/>
                <a:cs typeface="Arial"/>
              </a:defRPr>
            </a:lvl3pPr>
            <a:lvl4pPr>
              <a:defRPr sz="1125" b="0">
                <a:solidFill>
                  <a:srgbClr val="8AA0B7"/>
                </a:solidFill>
                <a:latin typeface="Arial"/>
                <a:ea typeface="Arial"/>
                <a:cs typeface="Arial"/>
              </a:defRPr>
            </a:lvl4pPr>
            <a:lvl5pPr>
              <a:defRPr sz="1125" b="0">
                <a:solidFill>
                  <a:srgbClr val="8AA0B7"/>
                </a:solidFill>
                <a:latin typeface="Arial"/>
                <a:ea typeface="Arial"/>
                <a:cs typeface="Arial"/>
              </a:defRPr>
            </a:lvl5pPr>
            <a:lvl6pPr>
              <a:defRPr sz="1125" b="0">
                <a:solidFill>
                  <a:srgbClr val="8AA0B7"/>
                </a:solidFill>
                <a:latin typeface="Arial"/>
                <a:ea typeface="Arial"/>
                <a:cs typeface="Arial"/>
              </a:defRPr>
            </a:lvl6pPr>
            <a:lvl7pPr>
              <a:defRPr sz="1125" b="0">
                <a:solidFill>
                  <a:srgbClr val="8AA0B7"/>
                </a:solidFill>
                <a:latin typeface="Arial"/>
                <a:ea typeface="Arial"/>
                <a:cs typeface="Arial"/>
              </a:defRPr>
            </a:lvl7pPr>
            <a:lvl8pPr>
              <a:defRPr sz="1125" b="0">
                <a:solidFill>
                  <a:srgbClr val="8AA0B7"/>
                </a:solidFill>
                <a:latin typeface="Arial"/>
                <a:ea typeface="Arial"/>
                <a:cs typeface="Arial"/>
              </a:defRPr>
            </a:lvl8pPr>
            <a:lvl9pPr>
              <a:defRPr sz="1125" b="0">
                <a:solidFill>
                  <a:srgbClr val="8AA0B7"/>
                </a:solidFill>
                <a:latin typeface="Arial"/>
                <a:ea typeface="Arial"/>
                <a:cs typeface="Arial"/>
              </a:defRPr>
            </a:lvl9pPr>
          </a:lstStyle>
          <a:p xmlns:a="http://schemas.openxmlformats.org/drawingml/2006/main">
            <a:pPr>
              <a:defRPr sz="1125" b="0">
                <a:solidFill>
                  <a:srgbClr val="8AA0B7"/>
                </a:solidFill>
                <a:latin typeface="Arial"/>
                <a:ea typeface="Arial"/>
                <a:cs typeface="Arial"/>
              </a:defRPr>
            </a:pPr>
            <a:r>
              <a:rPr sz="1125" b="0">
                <a:solidFill>
                  <a:srgbClr val="8AA0B7"/>
                </a:solidFill>
                <a:latin typeface="Arial"/>
                <a:ea typeface="Arial"/>
                <a:cs typeface="Arial"/>
              </a:rPr>
              <a:t>14 / 14</a:t>
            </a:r>
          </a:p>
        </p:txBody>
      </p:sp>
    </p:spTree>
    <p:extLst>
      <p:ext uri="{BB962C8B-B14F-4D97-AF65-F5344CB8AC3E}">
        <p14:creationId xmlns:p14="http://schemas.microsoft.com/office/powerpoint/2010/main" val="233210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2026-10-25T14:00:21.2290000Z</dcterms:created>
  <dcterms:modified xsi:type="dcterms:W3CDTF">2026-10-25T14:00:21.2290000Z</dcterms:modified>
</coreProperties>
</file>